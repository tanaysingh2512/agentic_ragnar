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Lst>
  <p:sldSz cy="10692000" cx="7560000"/>
  <p:notesSz cx="6858000" cy="9144000"/>
  <p:embeddedFontLst>
    <p:embeddedFont>
      <p:font typeface="Inter"/>
      <p:regular r:id="rId7"/>
      <p:bold r:id="rId8"/>
      <p:italic r:id="rId9"/>
      <p:boldItalic r:id="rId1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8">
          <p15:clr>
            <a:srgbClr val="747775"/>
          </p15:clr>
        </p15:guide>
        <p15:guide id="2" pos="1226">
          <p15:clr>
            <a:srgbClr val="747775"/>
          </p15:clr>
        </p15:guide>
        <p15:guide id="3" pos="3515">
          <p15:clr>
            <a:srgbClr val="747775"/>
          </p15:clr>
        </p15:guide>
        <p15:guide id="4" orient="horz" pos="652">
          <p15:clr>
            <a:srgbClr val="747775"/>
          </p15:clr>
        </p15:guide>
        <p15:guide id="5" orient="horz" pos="2010">
          <p15:clr>
            <a:srgbClr val="747775"/>
          </p15:clr>
        </p15:guide>
        <p15:guide id="6" orient="horz" pos="4725">
          <p15:clr>
            <a:srgbClr val="747775"/>
          </p15:clr>
        </p15:guide>
        <p15:guide id="7" orient="horz" pos="6083">
          <p15:clr>
            <a:srgbClr val="747775"/>
          </p15:clr>
        </p15:guide>
      </p15:sldGuideLst>
    </p:ext>
    <p:ext uri="GoogleSlidesCustomDataVersion2">
      <go:slidesCustomData xmlns:go="http://customooxmlschemas.google.com/" r:id="rId11" roundtripDataSignature="AMtx7mj7Oul1qbe5sq8afwldnGCz0srhO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8" orient="horz"/>
        <p:guide pos="1226"/>
        <p:guide pos="3515"/>
        <p:guide pos="652" orient="horz"/>
        <p:guide pos="2010" orient="horz"/>
        <p:guide pos="4725" orient="horz"/>
        <p:guide pos="6083" orient="horz"/>
      </p:guideLst>
    </p:cSldViewPr>
  </p:slideViewPr>
</p:viewPr>
</file>

<file path=ppt/_rels/presentation.xml.rels><?xml version="1.0" encoding="UTF-8" standalone="yes"?><Relationships xmlns="http://schemas.openxmlformats.org/package/2006/relationships"><Relationship Id="rId11" Type="http://customschemas.google.com/relationships/presentationmetadata" Target="metadata"/><Relationship Id="rId10" Type="http://schemas.openxmlformats.org/officeDocument/2006/relationships/font" Target="fonts/Inter-boldItalic.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font" Target="fonts/Inter-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font" Target="fonts/Inter-regular.fntdata"/><Relationship Id="rId8" Type="http://schemas.openxmlformats.org/officeDocument/2006/relationships/font" Target="fonts/Inter-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2217034" y="685800"/>
            <a:ext cx="24246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txBox="1"/>
          <p:nvPr>
            <p:ph idx="1" type="body"/>
          </p:nvPr>
        </p:nvSpPr>
        <p:spPr>
          <a:xfrm>
            <a:off x="685800" y="4400550"/>
            <a:ext cx="5486400" cy="3600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2" name="Google Shape;52;p1:notes"/>
          <p:cNvSpPr/>
          <p:nvPr>
            <p:ph idx="2" type="sldImg"/>
          </p:nvPr>
        </p:nvSpPr>
        <p:spPr>
          <a:xfrm>
            <a:off x="2337829" y="1143000"/>
            <a:ext cx="21825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3"/>
          <p:cNvSpPr txBox="1"/>
          <p:nvPr>
            <p:ph type="ctrTitle"/>
          </p:nvPr>
        </p:nvSpPr>
        <p:spPr>
          <a:xfrm>
            <a:off x="257723" y="1547807"/>
            <a:ext cx="7044900" cy="42669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3"/>
          <p:cNvSpPr txBox="1"/>
          <p:nvPr>
            <p:ph idx="1" type="subTitle"/>
          </p:nvPr>
        </p:nvSpPr>
        <p:spPr>
          <a:xfrm>
            <a:off x="257716" y="5891519"/>
            <a:ext cx="7044900" cy="1647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3"/>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4"/>
          <p:cNvSpPr txBox="1"/>
          <p:nvPr>
            <p:ph type="title"/>
          </p:nvPr>
        </p:nvSpPr>
        <p:spPr>
          <a:xfrm>
            <a:off x="257716" y="4471142"/>
            <a:ext cx="7044900" cy="17499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5" name="Google Shape;15;p4"/>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5"/>
          <p:cNvSpPr txBox="1"/>
          <p:nvPr>
            <p:ph type="title"/>
          </p:nvPr>
        </p:nvSpPr>
        <p:spPr>
          <a:xfrm>
            <a:off x="257716" y="925108"/>
            <a:ext cx="7044900" cy="1190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p5"/>
          <p:cNvSpPr txBox="1"/>
          <p:nvPr>
            <p:ph idx="1" type="body"/>
          </p:nvPr>
        </p:nvSpPr>
        <p:spPr>
          <a:xfrm>
            <a:off x="257716" y="2395741"/>
            <a:ext cx="7044900" cy="71019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9" name="Google Shape;19;p5"/>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6"/>
          <p:cNvSpPr txBox="1"/>
          <p:nvPr>
            <p:ph type="title"/>
          </p:nvPr>
        </p:nvSpPr>
        <p:spPr>
          <a:xfrm>
            <a:off x="257716" y="925108"/>
            <a:ext cx="7044900" cy="1190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6"/>
          <p:cNvSpPr txBox="1"/>
          <p:nvPr>
            <p:ph idx="1" type="body"/>
          </p:nvPr>
        </p:nvSpPr>
        <p:spPr>
          <a:xfrm>
            <a:off x="257716" y="2395741"/>
            <a:ext cx="3306900" cy="7101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6"/>
          <p:cNvSpPr txBox="1"/>
          <p:nvPr>
            <p:ph idx="2" type="body"/>
          </p:nvPr>
        </p:nvSpPr>
        <p:spPr>
          <a:xfrm>
            <a:off x="3995463" y="2395741"/>
            <a:ext cx="3306900" cy="71019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6"/>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7"/>
          <p:cNvSpPr txBox="1"/>
          <p:nvPr>
            <p:ph type="title"/>
          </p:nvPr>
        </p:nvSpPr>
        <p:spPr>
          <a:xfrm>
            <a:off x="257716" y="925108"/>
            <a:ext cx="7044900" cy="11904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7"/>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8"/>
          <p:cNvSpPr txBox="1"/>
          <p:nvPr>
            <p:ph type="title"/>
          </p:nvPr>
        </p:nvSpPr>
        <p:spPr>
          <a:xfrm>
            <a:off x="257716" y="1154970"/>
            <a:ext cx="2321700" cy="15708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8"/>
          <p:cNvSpPr txBox="1"/>
          <p:nvPr>
            <p:ph idx="1" type="body"/>
          </p:nvPr>
        </p:nvSpPr>
        <p:spPr>
          <a:xfrm>
            <a:off x="257716" y="2888671"/>
            <a:ext cx="2321700" cy="66090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8"/>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9"/>
          <p:cNvSpPr txBox="1"/>
          <p:nvPr>
            <p:ph type="title"/>
          </p:nvPr>
        </p:nvSpPr>
        <p:spPr>
          <a:xfrm>
            <a:off x="405342" y="935763"/>
            <a:ext cx="5265000" cy="85041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9"/>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10"/>
          <p:cNvSpPr/>
          <p:nvPr/>
        </p:nvSpPr>
        <p:spPr>
          <a:xfrm>
            <a:off x="3780163" y="-260"/>
            <a:ext cx="3780300" cy="106923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10"/>
          <p:cNvSpPr txBox="1"/>
          <p:nvPr>
            <p:ph type="title"/>
          </p:nvPr>
        </p:nvSpPr>
        <p:spPr>
          <a:xfrm>
            <a:off x="219517" y="2563498"/>
            <a:ext cx="3344400" cy="3081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10"/>
          <p:cNvSpPr txBox="1"/>
          <p:nvPr>
            <p:ph idx="1" type="subTitle"/>
          </p:nvPr>
        </p:nvSpPr>
        <p:spPr>
          <a:xfrm>
            <a:off x="219517" y="5826974"/>
            <a:ext cx="3344400" cy="25674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10"/>
          <p:cNvSpPr txBox="1"/>
          <p:nvPr>
            <p:ph idx="2" type="body"/>
          </p:nvPr>
        </p:nvSpPr>
        <p:spPr>
          <a:xfrm>
            <a:off x="4084015" y="1505192"/>
            <a:ext cx="3172200" cy="76812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10"/>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1"/>
          <p:cNvSpPr txBox="1"/>
          <p:nvPr>
            <p:ph idx="1" type="body"/>
          </p:nvPr>
        </p:nvSpPr>
        <p:spPr>
          <a:xfrm>
            <a:off x="257716" y="8794431"/>
            <a:ext cx="4959900" cy="12579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11"/>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2"/>
          <p:cNvSpPr txBox="1"/>
          <p:nvPr>
            <p:ph hasCustomPrompt="1" type="title"/>
          </p:nvPr>
        </p:nvSpPr>
        <p:spPr>
          <a:xfrm>
            <a:off x="257716" y="2299389"/>
            <a:ext cx="7044900" cy="4081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2"/>
          <p:cNvSpPr txBox="1"/>
          <p:nvPr>
            <p:ph idx="1" type="body"/>
          </p:nvPr>
        </p:nvSpPr>
        <p:spPr>
          <a:xfrm>
            <a:off x="257716" y="6552780"/>
            <a:ext cx="7044900" cy="27039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12"/>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3"/>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1.xml"/><Relationship Id="rId12" Type="http://schemas.openxmlformats.org/officeDocument/2006/relationships/slideLayout" Target="../slideLayouts/slideLayout11.xml"/><Relationship Id="rId1" Type="http://schemas.openxmlformats.org/officeDocument/2006/relationships/image" Target="../media/image2.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2"/>
          <p:cNvSpPr txBox="1"/>
          <p:nvPr>
            <p:ph type="title"/>
          </p:nvPr>
        </p:nvSpPr>
        <p:spPr>
          <a:xfrm>
            <a:off x="257716" y="925108"/>
            <a:ext cx="7044900" cy="11904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
          <p:cNvSpPr txBox="1"/>
          <p:nvPr>
            <p:ph idx="1" type="body"/>
          </p:nvPr>
        </p:nvSpPr>
        <p:spPr>
          <a:xfrm>
            <a:off x="257716" y="2395741"/>
            <a:ext cx="7044900" cy="71019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
          <p:cNvSpPr txBox="1"/>
          <p:nvPr>
            <p:ph idx="12" type="sldNum"/>
          </p:nvPr>
        </p:nvSpPr>
        <p:spPr>
          <a:xfrm>
            <a:off x="7005089" y="9693797"/>
            <a:ext cx="453600" cy="8181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sv"/>
              <a:t>‹#›</a:t>
            </a:fld>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hyperlink" Target="mailto:support@impactsolution.se" TargetMode="External"/><Relationship Id="rId5" Type="http://schemas.openxmlformats.org/officeDocument/2006/relationships/hyperlink" Target="http://www.impactsolution.se/" TargetMode="External"/><Relationship Id="rId6" Type="http://schemas.openxmlformats.org/officeDocument/2006/relationships/image" Target="../media/image3.png"/><Relationship Id="rId7" Type="http://schemas.openxmlformats.org/officeDocument/2006/relationships/hyperlink" Target="mailto:support@impactsolution.s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3" name="Shape 53"/>
        <p:cNvGrpSpPr/>
        <p:nvPr/>
      </p:nvGrpSpPr>
      <p:grpSpPr>
        <a:xfrm>
          <a:off x="0" y="0"/>
          <a:ext cx="0" cy="0"/>
          <a:chOff x="0" y="0"/>
          <a:chExt cx="0" cy="0"/>
        </a:xfrm>
      </p:grpSpPr>
      <p:sp>
        <p:nvSpPr>
          <p:cNvPr id="54" name="Google Shape;54;p1"/>
          <p:cNvSpPr txBox="1"/>
          <p:nvPr/>
        </p:nvSpPr>
        <p:spPr>
          <a:xfrm>
            <a:off x="6885818" y="2817153"/>
            <a:ext cx="203700" cy="408900"/>
          </a:xfrm>
          <a:prstGeom prst="rect">
            <a:avLst/>
          </a:prstGeom>
          <a:no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55" name="Google Shape;55;p1"/>
          <p:cNvSpPr txBox="1"/>
          <p:nvPr/>
        </p:nvSpPr>
        <p:spPr>
          <a:xfrm>
            <a:off x="7053818" y="2981646"/>
            <a:ext cx="203700" cy="408900"/>
          </a:xfrm>
          <a:prstGeom prst="rect">
            <a:avLst/>
          </a:prstGeom>
          <a:no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
        <p:nvSpPr>
          <p:cNvPr id="56" name="Google Shape;56;p1"/>
          <p:cNvSpPr/>
          <p:nvPr/>
        </p:nvSpPr>
        <p:spPr>
          <a:xfrm flipH="1">
            <a:off x="3780000" y="3426898"/>
            <a:ext cx="3780000" cy="7265100"/>
          </a:xfrm>
          <a:prstGeom prst="rtTriangle">
            <a:avLst/>
          </a:prstGeom>
          <a:solidFill>
            <a:srgbClr val="5EBD84"/>
          </a:solidFill>
          <a:ln>
            <a:noFill/>
          </a:ln>
        </p:spPr>
        <p:txBody>
          <a:bodyPr anchorCtr="0" anchor="ctr" bIns="50025" lIns="100075" spcFirstLastPara="1" rIns="100075" wrap="square" tIns="50025">
            <a:noAutofit/>
          </a:bodyPr>
          <a:lstStyle/>
          <a:p>
            <a:pPr indent="0" lvl="0" marL="0" marR="0" rtl="0" algn="ctr">
              <a:lnSpc>
                <a:spcPct val="100000"/>
              </a:lnSpc>
              <a:spcBef>
                <a:spcPts val="0"/>
              </a:spcBef>
              <a:spcAft>
                <a:spcPts val="0"/>
              </a:spcAft>
              <a:buClr>
                <a:srgbClr val="000000"/>
              </a:buClr>
              <a:buSzPts val="2000"/>
              <a:buFont typeface="Arial"/>
              <a:buNone/>
            </a:pPr>
            <a:r>
              <a:t/>
            </a:r>
            <a:endParaRPr b="0" i="0" sz="2000" u="none" cap="none" strike="noStrike">
              <a:solidFill>
                <a:schemeClr val="lt1"/>
              </a:solidFill>
              <a:latin typeface="Calibri"/>
              <a:ea typeface="Calibri"/>
              <a:cs typeface="Calibri"/>
              <a:sym typeface="Calibri"/>
            </a:endParaRPr>
          </a:p>
        </p:txBody>
      </p:sp>
      <p:pic>
        <p:nvPicPr>
          <p:cNvPr id="57" name="Google Shape;57;p1"/>
          <p:cNvPicPr preferRelativeResize="0"/>
          <p:nvPr/>
        </p:nvPicPr>
        <p:blipFill rotWithShape="1">
          <a:blip r:embed="rId3">
            <a:alphaModFix/>
          </a:blip>
          <a:srcRect b="0" l="0" r="0" t="0"/>
          <a:stretch/>
        </p:blipFill>
        <p:spPr>
          <a:xfrm>
            <a:off x="5229969" y="9727304"/>
            <a:ext cx="1885462" cy="602300"/>
          </a:xfrm>
          <a:prstGeom prst="rect">
            <a:avLst/>
          </a:prstGeom>
          <a:noFill/>
          <a:ln>
            <a:noFill/>
          </a:ln>
        </p:spPr>
      </p:pic>
      <p:sp>
        <p:nvSpPr>
          <p:cNvPr id="58" name="Google Shape;58;p1"/>
          <p:cNvSpPr txBox="1"/>
          <p:nvPr/>
        </p:nvSpPr>
        <p:spPr>
          <a:xfrm>
            <a:off x="397512" y="884488"/>
            <a:ext cx="6765000" cy="1532400"/>
          </a:xfrm>
          <a:prstGeom prst="rect">
            <a:avLst/>
          </a:prstGeom>
          <a:no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chemeClr val="dk1"/>
              </a:buClr>
              <a:buSzPts val="1200"/>
              <a:buFont typeface="Arial"/>
              <a:buNone/>
            </a:pPr>
            <a:r>
              <a:rPr b="1" lang="sv" sz="3300">
                <a:solidFill>
                  <a:schemeClr val="dk1"/>
                </a:solidFill>
                <a:latin typeface="Inter"/>
                <a:ea typeface="Inter"/>
                <a:cs typeface="Inter"/>
                <a:sym typeface="Inter"/>
              </a:rPr>
              <a:t>Ber om legitimation</a:t>
            </a:r>
            <a:endParaRPr b="1" i="0" sz="11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chemeClr val="dk1"/>
              </a:buClr>
              <a:buSzPts val="1200"/>
              <a:buFont typeface="Arial"/>
              <a:buNone/>
            </a:pPr>
            <a:r>
              <a:rPr b="1" i="0" lang="sv" sz="1500" u="none" cap="none" strike="noStrike">
                <a:solidFill>
                  <a:schemeClr val="dk1"/>
                </a:solidFill>
                <a:latin typeface="Inter"/>
                <a:ea typeface="Inter"/>
                <a:cs typeface="Inter"/>
                <a:sym typeface="Inter"/>
              </a:rPr>
              <a:t>Om</a:t>
            </a:r>
            <a:r>
              <a:rPr b="1" lang="sv" sz="1500">
                <a:solidFill>
                  <a:schemeClr val="dk1"/>
                </a:solidFill>
                <a:latin typeface="Inter"/>
                <a:ea typeface="Inter"/>
                <a:cs typeface="Inter"/>
                <a:sym typeface="Inter"/>
              </a:rPr>
              <a:t> din maskin eller nayax-dosa ber om legitimation eller ID när du försöker köpa en produkt ur varuautomaten kan detta bero på flera olika saker. Oftast går det att åtgärda av oss på supporten utan särskilt mycket krångel. </a:t>
            </a:r>
            <a:endParaRPr b="1" i="0" sz="3300" u="none" cap="none" strike="noStrike">
              <a:solidFill>
                <a:schemeClr val="dk1"/>
              </a:solidFill>
              <a:latin typeface="Inter"/>
              <a:ea typeface="Inter"/>
              <a:cs typeface="Inter"/>
              <a:sym typeface="Inter"/>
            </a:endParaRPr>
          </a:p>
        </p:txBody>
      </p:sp>
      <p:cxnSp>
        <p:nvCxnSpPr>
          <p:cNvPr id="59" name="Google Shape;59;p1"/>
          <p:cNvCxnSpPr/>
          <p:nvPr/>
        </p:nvCxnSpPr>
        <p:spPr>
          <a:xfrm>
            <a:off x="746666" y="9412616"/>
            <a:ext cx="6241200" cy="0"/>
          </a:xfrm>
          <a:prstGeom prst="straightConnector1">
            <a:avLst/>
          </a:prstGeom>
          <a:noFill/>
          <a:ln cap="flat" cmpd="sng" w="9525">
            <a:solidFill>
              <a:schemeClr val="dk1"/>
            </a:solidFill>
            <a:prstDash val="solid"/>
            <a:miter lim="800000"/>
            <a:headEnd len="sm" w="sm" type="none"/>
            <a:tailEnd len="sm" w="sm" type="none"/>
          </a:ln>
        </p:spPr>
      </p:cxnSp>
      <p:sp>
        <p:nvSpPr>
          <p:cNvPr id="60" name="Google Shape;60;p1"/>
          <p:cNvSpPr txBox="1"/>
          <p:nvPr/>
        </p:nvSpPr>
        <p:spPr>
          <a:xfrm>
            <a:off x="721725" y="9561623"/>
            <a:ext cx="2286300" cy="947700"/>
          </a:xfrm>
          <a:prstGeom prst="rect">
            <a:avLst/>
          </a:prstGeom>
          <a:solidFill>
            <a:schemeClr val="lt1"/>
          </a:solid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rgbClr val="000000"/>
              </a:buClr>
              <a:buSzPts val="1100"/>
              <a:buFont typeface="Arial"/>
              <a:buNone/>
            </a:pPr>
            <a:r>
              <a:rPr b="1" i="0" lang="sv" sz="1100" u="none" cap="none" strike="noStrike">
                <a:solidFill>
                  <a:schemeClr val="dk1"/>
                </a:solidFill>
                <a:latin typeface="Inter"/>
                <a:ea typeface="Inter"/>
                <a:cs typeface="Inter"/>
                <a:sym typeface="Inter"/>
              </a:rPr>
              <a:t>Impact Solution</a:t>
            </a:r>
            <a:endParaRPr b="0" i="0" sz="15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rPr b="0" i="1" lang="sv" sz="1100" u="sng" cap="none" strike="noStrike">
                <a:solidFill>
                  <a:schemeClr val="hlink"/>
                </a:solidFill>
                <a:latin typeface="Inter"/>
                <a:ea typeface="Inter"/>
                <a:cs typeface="Inter"/>
                <a:sym typeface="Inter"/>
                <a:hlinkClick r:id="rId4"/>
              </a:rPr>
              <a:t>support@impactsolution.se</a:t>
            </a:r>
            <a:endParaRPr b="0" i="1" sz="1100" u="none" cap="none" strike="noStrike">
              <a:solidFill>
                <a:srgbClr val="A8A9A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sv" sz="1100" u="sng" cap="none" strike="noStrike">
                <a:solidFill>
                  <a:srgbClr val="A8A9A3"/>
                </a:solidFill>
                <a:latin typeface="Inter"/>
                <a:ea typeface="Inter"/>
                <a:cs typeface="Inter"/>
                <a:sym typeface="Inter"/>
                <a:hlinkClick r:id="rId5">
                  <a:extLst>
                    <a:ext uri="{A12FA001-AC4F-418D-AE19-62706E023703}">
                      <ahyp:hlinkClr val="tx"/>
                    </a:ext>
                  </a:extLst>
                </a:hlinkClick>
              </a:rPr>
              <a:t>impactsolution.se</a:t>
            </a:r>
            <a:endParaRPr b="0" i="0" sz="1100" u="none" cap="none" strike="noStrike">
              <a:solidFill>
                <a:srgbClr val="A8A9A3"/>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rPr b="0" i="0" lang="sv" sz="1100" u="none" cap="none" strike="noStrike">
                <a:solidFill>
                  <a:schemeClr val="dk1"/>
                </a:solidFill>
                <a:latin typeface="Inter"/>
                <a:ea typeface="Inter"/>
                <a:cs typeface="Inter"/>
                <a:sym typeface="Inter"/>
              </a:rPr>
              <a:t>010 - 20 71 510</a:t>
            </a:r>
            <a:endParaRPr b="0" i="0" sz="1100" u="none" cap="none" strike="noStrike">
              <a:solidFill>
                <a:schemeClr val="dk1"/>
              </a:solidFill>
              <a:latin typeface="Inter"/>
              <a:ea typeface="Inter"/>
              <a:cs typeface="Inter"/>
              <a:sym typeface="Inter"/>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CC0000"/>
              </a:solidFill>
              <a:latin typeface="Inter"/>
              <a:ea typeface="Inter"/>
              <a:cs typeface="Inter"/>
              <a:sym typeface="Inter"/>
            </a:endParaRPr>
          </a:p>
        </p:txBody>
      </p:sp>
      <p:pic>
        <p:nvPicPr>
          <p:cNvPr id="61" name="Google Shape;61;p1"/>
          <p:cNvPicPr preferRelativeResize="0"/>
          <p:nvPr/>
        </p:nvPicPr>
        <p:blipFill rotWithShape="1">
          <a:blip r:embed="rId6">
            <a:alphaModFix/>
          </a:blip>
          <a:srcRect b="0" l="0" r="0" t="0"/>
          <a:stretch/>
        </p:blipFill>
        <p:spPr>
          <a:xfrm>
            <a:off x="6414758" y="681368"/>
            <a:ext cx="725413" cy="725413"/>
          </a:xfrm>
          <a:prstGeom prst="rect">
            <a:avLst/>
          </a:prstGeom>
          <a:noFill/>
          <a:ln>
            <a:noFill/>
          </a:ln>
        </p:spPr>
      </p:pic>
      <p:sp>
        <p:nvSpPr>
          <p:cNvPr id="62" name="Google Shape;62;p1"/>
          <p:cNvSpPr txBox="1"/>
          <p:nvPr/>
        </p:nvSpPr>
        <p:spPr>
          <a:xfrm>
            <a:off x="446175" y="327375"/>
            <a:ext cx="3000000" cy="354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100"/>
              <a:buFont typeface="Arial"/>
              <a:buNone/>
            </a:pPr>
            <a:r>
              <a:rPr b="0" i="0" lang="sv" sz="1100" u="none" cap="none" strike="noStrike">
                <a:solidFill>
                  <a:schemeClr val="dk1"/>
                </a:solidFill>
                <a:latin typeface="Inter"/>
                <a:ea typeface="Inter"/>
                <a:cs typeface="Inter"/>
                <a:sym typeface="Inter"/>
              </a:rPr>
              <a:t>Version. 1.0 2024-06-05</a:t>
            </a:r>
            <a:endParaRPr b="0" i="0" sz="1400" u="none" cap="none" strike="noStrike">
              <a:solidFill>
                <a:schemeClr val="dk1"/>
              </a:solidFill>
              <a:latin typeface="Arial"/>
              <a:ea typeface="Arial"/>
              <a:cs typeface="Arial"/>
              <a:sym typeface="Arial"/>
            </a:endParaRPr>
          </a:p>
        </p:txBody>
      </p:sp>
      <p:sp>
        <p:nvSpPr>
          <p:cNvPr id="63" name="Google Shape;63;p1"/>
          <p:cNvSpPr txBox="1"/>
          <p:nvPr/>
        </p:nvSpPr>
        <p:spPr>
          <a:xfrm>
            <a:off x="549675" y="2336575"/>
            <a:ext cx="3761700" cy="3795300"/>
          </a:xfrm>
          <a:prstGeom prst="rect">
            <a:avLst/>
          </a:prstGeom>
          <a:noFill/>
          <a:ln>
            <a:noFill/>
          </a:ln>
        </p:spPr>
        <p:txBody>
          <a:bodyPr anchorCtr="0" anchor="t" bIns="50025" lIns="100075" spcFirstLastPara="1" rIns="100075" wrap="square" tIns="50025">
            <a:spAutoFit/>
          </a:bodyPr>
          <a:lstStyle/>
          <a:p>
            <a:pPr indent="0" lvl="0" marL="0" marR="0" rtl="0" algn="l">
              <a:lnSpc>
                <a:spcPct val="100000"/>
              </a:lnSpc>
              <a:spcBef>
                <a:spcPts val="0"/>
              </a:spcBef>
              <a:spcAft>
                <a:spcPts val="0"/>
              </a:spcAft>
              <a:buClr>
                <a:srgbClr val="000000"/>
              </a:buClr>
              <a:buSzPts val="1500"/>
              <a:buFont typeface="Arial"/>
              <a:buNone/>
            </a:pPr>
            <a:r>
              <a:rPr b="1" lang="sv" sz="1500">
                <a:solidFill>
                  <a:schemeClr val="dk1"/>
                </a:solidFill>
                <a:latin typeface="Inter"/>
                <a:ea typeface="Inter"/>
                <a:cs typeface="Inter"/>
                <a:sym typeface="Inter"/>
              </a:rPr>
              <a:t>Lösning</a:t>
            </a:r>
            <a:br>
              <a:rPr b="1" i="0" lang="sv" sz="1500" u="sng" cap="none" strike="noStrike">
                <a:solidFill>
                  <a:schemeClr val="dk1"/>
                </a:solidFill>
                <a:latin typeface="Inter"/>
                <a:ea typeface="Inter"/>
                <a:cs typeface="Inter"/>
                <a:sym typeface="Inter"/>
              </a:rPr>
            </a:br>
            <a:endParaRPr b="1" i="0" sz="1500" u="sng" cap="none" strike="noStrike">
              <a:solidFill>
                <a:schemeClr val="dk1"/>
              </a:solidFill>
              <a:latin typeface="Inter"/>
              <a:ea typeface="Inter"/>
              <a:cs typeface="Inter"/>
              <a:sym typeface="Inter"/>
            </a:endParaRPr>
          </a:p>
          <a:p>
            <a:pPr indent="0" lvl="0" marL="457200" marR="0" rtl="0" algn="l">
              <a:lnSpc>
                <a:spcPct val="100000"/>
              </a:lnSpc>
              <a:spcBef>
                <a:spcPts val="0"/>
              </a:spcBef>
              <a:spcAft>
                <a:spcPts val="0"/>
              </a:spcAft>
              <a:buNone/>
            </a:pPr>
            <a:r>
              <a:rPr lang="sv" sz="1500">
                <a:solidFill>
                  <a:schemeClr val="dk1"/>
                </a:solidFill>
                <a:latin typeface="Inter"/>
                <a:ea typeface="Inter"/>
                <a:cs typeface="Inter"/>
                <a:sym typeface="Inter"/>
              </a:rPr>
              <a:t>Skapa ett ärende till vår support på </a:t>
            </a:r>
            <a:r>
              <a:rPr lang="sv" sz="1500" u="sng">
                <a:solidFill>
                  <a:schemeClr val="hlink"/>
                </a:solidFill>
                <a:latin typeface="Inter"/>
                <a:ea typeface="Inter"/>
                <a:cs typeface="Inter"/>
                <a:sym typeface="Inter"/>
                <a:hlinkClick r:id="rId7"/>
              </a:rPr>
              <a:t>support@impactsolution.se</a:t>
            </a:r>
            <a:r>
              <a:rPr lang="sv" sz="1500">
                <a:solidFill>
                  <a:schemeClr val="dk1"/>
                </a:solidFill>
                <a:latin typeface="Inter"/>
                <a:ea typeface="Inter"/>
                <a:cs typeface="Inter"/>
                <a:sym typeface="Inter"/>
              </a:rPr>
              <a:t> . Beskriv vilken produkt det gäller, i vilket fack, vilken aktör ni är, samt vilken maskin det avser. </a:t>
            </a:r>
            <a:endParaRPr sz="1500">
              <a:solidFill>
                <a:schemeClr val="dk1"/>
              </a:solidFill>
              <a:latin typeface="Inter"/>
              <a:ea typeface="Inter"/>
              <a:cs typeface="Inter"/>
              <a:sym typeface="Inter"/>
            </a:endParaRPr>
          </a:p>
          <a:p>
            <a:pPr indent="0" lvl="0" marL="457200" marR="0" rtl="0" algn="l">
              <a:lnSpc>
                <a:spcPct val="100000"/>
              </a:lnSpc>
              <a:spcBef>
                <a:spcPts val="0"/>
              </a:spcBef>
              <a:spcAft>
                <a:spcPts val="0"/>
              </a:spcAft>
              <a:buNone/>
            </a:pPr>
            <a:r>
              <a:rPr lang="sv" sz="1500">
                <a:solidFill>
                  <a:schemeClr val="dk1"/>
                </a:solidFill>
                <a:latin typeface="Inter"/>
                <a:ea typeface="Inter"/>
                <a:cs typeface="Inter"/>
                <a:sym typeface="Inter"/>
              </a:rPr>
              <a:t>Vi löser ärendet så fort vi kan och kontaktar er efteråt.</a:t>
            </a:r>
            <a:endParaRPr sz="1500">
              <a:solidFill>
                <a:schemeClr val="dk1"/>
              </a:solidFill>
              <a:latin typeface="Inter"/>
              <a:ea typeface="Inter"/>
              <a:cs typeface="Inter"/>
              <a:sym typeface="Inter"/>
            </a:endParaRPr>
          </a:p>
          <a:p>
            <a:pPr indent="0" lvl="0" marL="457200" marR="0" rtl="0" algn="l">
              <a:lnSpc>
                <a:spcPct val="100000"/>
              </a:lnSpc>
              <a:spcBef>
                <a:spcPts val="0"/>
              </a:spcBef>
              <a:spcAft>
                <a:spcPts val="0"/>
              </a:spcAft>
              <a:buNone/>
            </a:pPr>
            <a:r>
              <a:t/>
            </a:r>
            <a:endParaRPr sz="1500">
              <a:solidFill>
                <a:schemeClr val="dk1"/>
              </a:solidFill>
              <a:latin typeface="Inter"/>
              <a:ea typeface="Inter"/>
              <a:cs typeface="Inter"/>
              <a:sym typeface="Inter"/>
            </a:endParaRPr>
          </a:p>
          <a:p>
            <a:pPr indent="0" lvl="0" marL="457200" marR="0" rtl="0" algn="l">
              <a:lnSpc>
                <a:spcPct val="100000"/>
              </a:lnSpc>
              <a:spcBef>
                <a:spcPts val="0"/>
              </a:spcBef>
              <a:spcAft>
                <a:spcPts val="0"/>
              </a:spcAft>
              <a:buNone/>
            </a:pPr>
            <a:r>
              <a:rPr lang="sv" sz="1500">
                <a:solidFill>
                  <a:schemeClr val="dk1"/>
                </a:solidFill>
                <a:latin typeface="Inter"/>
                <a:ea typeface="Inter"/>
                <a:cs typeface="Inter"/>
                <a:sym typeface="Inter"/>
              </a:rPr>
              <a:t>Det kan vara bra att tömma facket på produkten som maskinen ber om legitimation på tills det är fixat. Så att era kunder inte försöker köpa produkten. </a:t>
            </a:r>
            <a:endParaRPr sz="1500">
              <a:solidFill>
                <a:schemeClr val="dk1"/>
              </a:solidFill>
              <a:latin typeface="Inter"/>
              <a:ea typeface="Inter"/>
              <a:cs typeface="Inter"/>
              <a:sym typeface="Inter"/>
            </a:endParaRPr>
          </a:p>
          <a:p>
            <a:pPr indent="0" lvl="0" marL="0" marR="0" rtl="0" algn="l">
              <a:lnSpc>
                <a:spcPct val="100000"/>
              </a:lnSpc>
              <a:spcBef>
                <a:spcPts val="0"/>
              </a:spcBef>
              <a:spcAft>
                <a:spcPts val="0"/>
              </a:spcAft>
              <a:buNone/>
            </a:pPr>
            <a:r>
              <a:t/>
            </a:r>
            <a:endParaRPr b="0" i="0" sz="1500" u="none" cap="none" strike="noStrike">
              <a:solidFill>
                <a:schemeClr val="dk1"/>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