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Lst>
  <p:sldSz cy="10692000" cx="7560000"/>
  <p:notesSz cx="6858000" cy="9144000"/>
  <p:embeddedFontLst>
    <p:embeddedFont>
      <p:font typeface="Inter"/>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368">
          <p15:clr>
            <a:srgbClr val="747775"/>
          </p15:clr>
        </p15:guide>
        <p15:guide id="2" pos="1226">
          <p15:clr>
            <a:srgbClr val="747775"/>
          </p15:clr>
        </p15:guide>
        <p15:guide id="3" pos="3515">
          <p15:clr>
            <a:srgbClr val="747775"/>
          </p15:clr>
        </p15:guide>
        <p15:guide id="4" orient="horz" pos="652">
          <p15:clr>
            <a:srgbClr val="747775"/>
          </p15:clr>
        </p15:guide>
        <p15:guide id="5" orient="horz" pos="2010">
          <p15:clr>
            <a:srgbClr val="747775"/>
          </p15:clr>
        </p15:guide>
        <p15:guide id="6" orient="horz" pos="4725">
          <p15:clr>
            <a:srgbClr val="747775"/>
          </p15:clr>
        </p15:guide>
        <p15:guide id="7" orient="horz" pos="6083">
          <p15:clr>
            <a:srgbClr val="747775"/>
          </p15:clr>
        </p15:guide>
      </p15:sldGuideLst>
    </p:ext>
    <p:ext uri="GoogleSlidesCustomDataVersion2">
      <go:slidesCustomData xmlns:go="http://customooxmlschemas.google.com/" r:id="rId11" roundtripDataSignature="AMtx7mhUb4WGRMKlRWx9Eug2Yb0P40ZA+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368" orient="horz"/>
        <p:guide pos="1226"/>
        <p:guide pos="3515"/>
        <p:guide pos="652" orient="horz"/>
        <p:guide pos="2010" orient="horz"/>
        <p:guide pos="4725" orient="horz"/>
        <p:guide pos="6083" orient="horz"/>
      </p:guideLst>
    </p:cSldViewPr>
  </p:slideViewPr>
</p:viewPr>
</file>

<file path=ppt/_rels/presentation.xml.rels><?xml version="1.0" encoding="UTF-8" standalone="yes"?><Relationships xmlns="http://schemas.openxmlformats.org/package/2006/relationships"><Relationship Id="rId11" Type="http://customschemas.google.com/relationships/presentationmetadata" Target="metadata"/><Relationship Id="rId10" Type="http://schemas.openxmlformats.org/officeDocument/2006/relationships/font" Target="fonts/Inter-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Inter-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Inter-regular.fntdata"/><Relationship Id="rId8" Type="http://schemas.openxmlformats.org/officeDocument/2006/relationships/font" Target="fonts/Inter-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217034" y="685800"/>
            <a:ext cx="2424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 name="Google Shape;52;p1:notes"/>
          <p:cNvSpPr/>
          <p:nvPr>
            <p:ph idx="2" type="sldImg"/>
          </p:nvPr>
        </p:nvSpPr>
        <p:spPr>
          <a:xfrm>
            <a:off x="2337829" y="1143000"/>
            <a:ext cx="21825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3"/>
          <p:cNvSpPr txBox="1"/>
          <p:nvPr>
            <p:ph type="ctrTitle"/>
          </p:nvPr>
        </p:nvSpPr>
        <p:spPr>
          <a:xfrm>
            <a:off x="257723" y="1547807"/>
            <a:ext cx="7044900" cy="42669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3"/>
          <p:cNvSpPr txBox="1"/>
          <p:nvPr>
            <p:ph idx="1" type="subTitle"/>
          </p:nvPr>
        </p:nvSpPr>
        <p:spPr>
          <a:xfrm>
            <a:off x="257716" y="5891519"/>
            <a:ext cx="7044900" cy="1647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3"/>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4"/>
          <p:cNvSpPr txBox="1"/>
          <p:nvPr>
            <p:ph type="title"/>
          </p:nvPr>
        </p:nvSpPr>
        <p:spPr>
          <a:xfrm>
            <a:off x="257716" y="4471142"/>
            <a:ext cx="7044900" cy="17499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5" name="Google Shape;15;p4"/>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5"/>
          <p:cNvSpPr txBox="1"/>
          <p:nvPr>
            <p:ph type="title"/>
          </p:nvPr>
        </p:nvSpPr>
        <p:spPr>
          <a:xfrm>
            <a:off x="257716" y="925108"/>
            <a:ext cx="7044900" cy="1190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5"/>
          <p:cNvSpPr txBox="1"/>
          <p:nvPr>
            <p:ph idx="1" type="body"/>
          </p:nvPr>
        </p:nvSpPr>
        <p:spPr>
          <a:xfrm>
            <a:off x="257716" y="2395741"/>
            <a:ext cx="7044900" cy="71019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 name="Google Shape;19;p5"/>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6"/>
          <p:cNvSpPr txBox="1"/>
          <p:nvPr>
            <p:ph type="title"/>
          </p:nvPr>
        </p:nvSpPr>
        <p:spPr>
          <a:xfrm>
            <a:off x="257716" y="925108"/>
            <a:ext cx="7044900" cy="1190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6"/>
          <p:cNvSpPr txBox="1"/>
          <p:nvPr>
            <p:ph idx="1" type="body"/>
          </p:nvPr>
        </p:nvSpPr>
        <p:spPr>
          <a:xfrm>
            <a:off x="257716" y="2395741"/>
            <a:ext cx="3306900" cy="71019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6"/>
          <p:cNvSpPr txBox="1"/>
          <p:nvPr>
            <p:ph idx="2" type="body"/>
          </p:nvPr>
        </p:nvSpPr>
        <p:spPr>
          <a:xfrm>
            <a:off x="3995463" y="2395741"/>
            <a:ext cx="3306900" cy="71019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6"/>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7"/>
          <p:cNvSpPr txBox="1"/>
          <p:nvPr>
            <p:ph type="title"/>
          </p:nvPr>
        </p:nvSpPr>
        <p:spPr>
          <a:xfrm>
            <a:off x="257716" y="925108"/>
            <a:ext cx="7044900" cy="1190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7"/>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8"/>
          <p:cNvSpPr txBox="1"/>
          <p:nvPr>
            <p:ph type="title"/>
          </p:nvPr>
        </p:nvSpPr>
        <p:spPr>
          <a:xfrm>
            <a:off x="257716" y="1154970"/>
            <a:ext cx="2321700" cy="15708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8"/>
          <p:cNvSpPr txBox="1"/>
          <p:nvPr>
            <p:ph idx="1" type="body"/>
          </p:nvPr>
        </p:nvSpPr>
        <p:spPr>
          <a:xfrm>
            <a:off x="257716" y="2888671"/>
            <a:ext cx="2321700" cy="66090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8"/>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9"/>
          <p:cNvSpPr txBox="1"/>
          <p:nvPr>
            <p:ph type="title"/>
          </p:nvPr>
        </p:nvSpPr>
        <p:spPr>
          <a:xfrm>
            <a:off x="405342" y="935763"/>
            <a:ext cx="5265000" cy="85041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9"/>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10"/>
          <p:cNvSpPr/>
          <p:nvPr/>
        </p:nvSpPr>
        <p:spPr>
          <a:xfrm>
            <a:off x="3780163" y="-260"/>
            <a:ext cx="3780300" cy="10692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0"/>
          <p:cNvSpPr txBox="1"/>
          <p:nvPr>
            <p:ph type="title"/>
          </p:nvPr>
        </p:nvSpPr>
        <p:spPr>
          <a:xfrm>
            <a:off x="219517" y="2563498"/>
            <a:ext cx="3344400" cy="3081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10"/>
          <p:cNvSpPr txBox="1"/>
          <p:nvPr>
            <p:ph idx="1" type="subTitle"/>
          </p:nvPr>
        </p:nvSpPr>
        <p:spPr>
          <a:xfrm>
            <a:off x="219517" y="5826974"/>
            <a:ext cx="3344400" cy="25674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10"/>
          <p:cNvSpPr txBox="1"/>
          <p:nvPr>
            <p:ph idx="2" type="body"/>
          </p:nvPr>
        </p:nvSpPr>
        <p:spPr>
          <a:xfrm>
            <a:off x="4084015" y="1505192"/>
            <a:ext cx="3172200" cy="76812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10"/>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1"/>
          <p:cNvSpPr txBox="1"/>
          <p:nvPr>
            <p:ph idx="1" type="body"/>
          </p:nvPr>
        </p:nvSpPr>
        <p:spPr>
          <a:xfrm>
            <a:off x="257716" y="8794431"/>
            <a:ext cx="4959900" cy="12579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1"/>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2"/>
          <p:cNvSpPr txBox="1"/>
          <p:nvPr>
            <p:ph hasCustomPrompt="1" type="title"/>
          </p:nvPr>
        </p:nvSpPr>
        <p:spPr>
          <a:xfrm>
            <a:off x="257716" y="2299389"/>
            <a:ext cx="7044900" cy="4081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2"/>
          <p:cNvSpPr txBox="1"/>
          <p:nvPr>
            <p:ph idx="1" type="body"/>
          </p:nvPr>
        </p:nvSpPr>
        <p:spPr>
          <a:xfrm>
            <a:off x="257716" y="6552780"/>
            <a:ext cx="7044900" cy="27039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2"/>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3"/>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2"/>
          <p:cNvSpPr txBox="1"/>
          <p:nvPr>
            <p:ph type="title"/>
          </p:nvPr>
        </p:nvSpPr>
        <p:spPr>
          <a:xfrm>
            <a:off x="257716" y="925108"/>
            <a:ext cx="7044900" cy="1190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
          <p:cNvSpPr txBox="1"/>
          <p:nvPr>
            <p:ph idx="1" type="body"/>
          </p:nvPr>
        </p:nvSpPr>
        <p:spPr>
          <a:xfrm>
            <a:off x="257716" y="2395741"/>
            <a:ext cx="7044900" cy="71019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2"/>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hyperlink" Target="mailto:support@impactsolution.se" TargetMode="External"/><Relationship Id="rId5" Type="http://schemas.openxmlformats.org/officeDocument/2006/relationships/hyperlink" Target="http://www.impactsolution.se/" TargetMode="External"/><Relationship Id="rId6" Type="http://schemas.openxmlformats.org/officeDocument/2006/relationships/image" Target="../media/image3.png"/><Relationship Id="rId7" Type="http://schemas.openxmlformats.org/officeDocument/2006/relationships/hyperlink" Target="mailto:support@impactsolution.s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 name="Shape 53"/>
        <p:cNvGrpSpPr/>
        <p:nvPr/>
      </p:nvGrpSpPr>
      <p:grpSpPr>
        <a:xfrm>
          <a:off x="0" y="0"/>
          <a:ext cx="0" cy="0"/>
          <a:chOff x="0" y="0"/>
          <a:chExt cx="0" cy="0"/>
        </a:xfrm>
      </p:grpSpPr>
      <p:sp>
        <p:nvSpPr>
          <p:cNvPr id="54" name="Google Shape;54;p1"/>
          <p:cNvSpPr txBox="1"/>
          <p:nvPr/>
        </p:nvSpPr>
        <p:spPr>
          <a:xfrm>
            <a:off x="6885818" y="2817153"/>
            <a:ext cx="203700" cy="408900"/>
          </a:xfrm>
          <a:prstGeom prst="rect">
            <a:avLst/>
          </a:prstGeom>
          <a:noFill/>
          <a:ln>
            <a:noFill/>
          </a:ln>
        </p:spPr>
        <p:txBody>
          <a:bodyPr anchorCtr="0" anchor="t" bIns="50025" lIns="100075" spcFirstLastPara="1" rIns="100075" wrap="square" tIns="500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55" name="Google Shape;55;p1"/>
          <p:cNvSpPr txBox="1"/>
          <p:nvPr/>
        </p:nvSpPr>
        <p:spPr>
          <a:xfrm>
            <a:off x="7053818" y="2981646"/>
            <a:ext cx="203700" cy="408900"/>
          </a:xfrm>
          <a:prstGeom prst="rect">
            <a:avLst/>
          </a:prstGeom>
          <a:noFill/>
          <a:ln>
            <a:noFill/>
          </a:ln>
        </p:spPr>
        <p:txBody>
          <a:bodyPr anchorCtr="0" anchor="t" bIns="50025" lIns="100075" spcFirstLastPara="1" rIns="100075" wrap="square" tIns="500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56" name="Google Shape;56;p1"/>
          <p:cNvSpPr/>
          <p:nvPr/>
        </p:nvSpPr>
        <p:spPr>
          <a:xfrm flipH="1">
            <a:off x="3780000" y="3426898"/>
            <a:ext cx="3780000" cy="7265100"/>
          </a:xfrm>
          <a:prstGeom prst="rtTriangle">
            <a:avLst/>
          </a:prstGeom>
          <a:solidFill>
            <a:srgbClr val="5EBD84"/>
          </a:solidFill>
          <a:ln>
            <a:noFill/>
          </a:ln>
        </p:spPr>
        <p:txBody>
          <a:bodyPr anchorCtr="0" anchor="ctr" bIns="50025" lIns="100075" spcFirstLastPara="1" rIns="100075" wrap="square" tIns="50025">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Calibri"/>
              <a:ea typeface="Calibri"/>
              <a:cs typeface="Calibri"/>
              <a:sym typeface="Calibri"/>
            </a:endParaRPr>
          </a:p>
        </p:txBody>
      </p:sp>
      <p:pic>
        <p:nvPicPr>
          <p:cNvPr id="57" name="Google Shape;57;p1"/>
          <p:cNvPicPr preferRelativeResize="0"/>
          <p:nvPr/>
        </p:nvPicPr>
        <p:blipFill rotWithShape="1">
          <a:blip r:embed="rId3">
            <a:alphaModFix/>
          </a:blip>
          <a:srcRect b="0" l="0" r="0" t="0"/>
          <a:stretch/>
        </p:blipFill>
        <p:spPr>
          <a:xfrm>
            <a:off x="5229969" y="9727304"/>
            <a:ext cx="1885462" cy="602300"/>
          </a:xfrm>
          <a:prstGeom prst="rect">
            <a:avLst/>
          </a:prstGeom>
          <a:noFill/>
          <a:ln>
            <a:noFill/>
          </a:ln>
        </p:spPr>
      </p:pic>
      <p:sp>
        <p:nvSpPr>
          <p:cNvPr id="58" name="Google Shape;58;p1"/>
          <p:cNvSpPr txBox="1"/>
          <p:nvPr/>
        </p:nvSpPr>
        <p:spPr>
          <a:xfrm>
            <a:off x="397512" y="884488"/>
            <a:ext cx="6765000" cy="1532400"/>
          </a:xfrm>
          <a:prstGeom prst="rect">
            <a:avLst/>
          </a:prstGeom>
          <a:noFill/>
          <a:ln>
            <a:noFill/>
          </a:ln>
        </p:spPr>
        <p:txBody>
          <a:bodyPr anchorCtr="0" anchor="t" bIns="50025" lIns="100075" spcFirstLastPara="1" rIns="100075" wrap="square" tIns="50025">
            <a:spAutoFit/>
          </a:bodyPr>
          <a:lstStyle/>
          <a:p>
            <a:pPr indent="0" lvl="0" marL="0" marR="0" rtl="0" algn="l">
              <a:lnSpc>
                <a:spcPct val="100000"/>
              </a:lnSpc>
              <a:spcBef>
                <a:spcPts val="0"/>
              </a:spcBef>
              <a:spcAft>
                <a:spcPts val="0"/>
              </a:spcAft>
              <a:buClr>
                <a:schemeClr val="dk1"/>
              </a:buClr>
              <a:buSzPts val="1200"/>
              <a:buFont typeface="Arial"/>
              <a:buNone/>
            </a:pPr>
            <a:r>
              <a:rPr b="1" lang="sv" sz="3300">
                <a:solidFill>
                  <a:schemeClr val="dk1"/>
                </a:solidFill>
                <a:latin typeface="Inter"/>
                <a:ea typeface="Inter"/>
                <a:cs typeface="Inter"/>
                <a:sym typeface="Inter"/>
              </a:rPr>
              <a:t>Bygga om maskinen</a:t>
            </a:r>
            <a:endParaRPr b="1" i="0" sz="11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chemeClr val="dk1"/>
              </a:buClr>
              <a:buSzPts val="1200"/>
              <a:buFont typeface="Arial"/>
              <a:buNone/>
            </a:pPr>
            <a:r>
              <a:rPr b="1" lang="sv" sz="1500">
                <a:solidFill>
                  <a:schemeClr val="dk1"/>
                </a:solidFill>
                <a:latin typeface="Inter"/>
                <a:ea typeface="Inter"/>
                <a:cs typeface="Inter"/>
                <a:sym typeface="Inter"/>
              </a:rPr>
              <a:t>Ibland behövs maskinen byggas om för att hyllorna ska passa till rätt eller nya produkter. I vissa fall går det att bygga om maskinen eller byta fack själv med reservdelar från oss, i andra fall kan en tekniker behöva komma på ett serviceärende för att göra jobbet.</a:t>
            </a:r>
            <a:endParaRPr b="1" i="0" sz="3300" u="none" cap="none" strike="noStrike">
              <a:solidFill>
                <a:schemeClr val="dk1"/>
              </a:solidFill>
              <a:latin typeface="Inter"/>
              <a:ea typeface="Inter"/>
              <a:cs typeface="Inter"/>
              <a:sym typeface="Inter"/>
            </a:endParaRPr>
          </a:p>
        </p:txBody>
      </p:sp>
      <p:sp>
        <p:nvSpPr>
          <p:cNvPr id="59" name="Google Shape;59;p1"/>
          <p:cNvSpPr txBox="1"/>
          <p:nvPr/>
        </p:nvSpPr>
        <p:spPr>
          <a:xfrm>
            <a:off x="549675" y="5908100"/>
            <a:ext cx="3780000" cy="331800"/>
          </a:xfrm>
          <a:prstGeom prst="rect">
            <a:avLst/>
          </a:prstGeom>
          <a:noFill/>
          <a:ln>
            <a:noFill/>
          </a:ln>
        </p:spPr>
        <p:txBody>
          <a:bodyPr anchorCtr="0" anchor="t" bIns="50025" lIns="100075" spcFirstLastPara="1" rIns="100075" wrap="square" tIns="50025">
            <a:sp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Inter"/>
              <a:ea typeface="Inter"/>
              <a:cs typeface="Inter"/>
              <a:sym typeface="Inter"/>
            </a:endParaRPr>
          </a:p>
        </p:txBody>
      </p:sp>
      <p:cxnSp>
        <p:nvCxnSpPr>
          <p:cNvPr id="60" name="Google Shape;60;p1"/>
          <p:cNvCxnSpPr/>
          <p:nvPr/>
        </p:nvCxnSpPr>
        <p:spPr>
          <a:xfrm>
            <a:off x="746666" y="9412616"/>
            <a:ext cx="6241200" cy="0"/>
          </a:xfrm>
          <a:prstGeom prst="straightConnector1">
            <a:avLst/>
          </a:prstGeom>
          <a:noFill/>
          <a:ln cap="flat" cmpd="sng" w="9525">
            <a:solidFill>
              <a:schemeClr val="dk1"/>
            </a:solidFill>
            <a:prstDash val="solid"/>
            <a:miter lim="800000"/>
            <a:headEnd len="sm" w="sm" type="none"/>
            <a:tailEnd len="sm" w="sm" type="none"/>
          </a:ln>
        </p:spPr>
      </p:cxnSp>
      <p:sp>
        <p:nvSpPr>
          <p:cNvPr id="61" name="Google Shape;61;p1"/>
          <p:cNvSpPr txBox="1"/>
          <p:nvPr/>
        </p:nvSpPr>
        <p:spPr>
          <a:xfrm>
            <a:off x="721725" y="9561623"/>
            <a:ext cx="2286300" cy="947700"/>
          </a:xfrm>
          <a:prstGeom prst="rect">
            <a:avLst/>
          </a:prstGeom>
          <a:solidFill>
            <a:schemeClr val="lt1"/>
          </a:solidFill>
          <a:ln>
            <a:noFill/>
          </a:ln>
        </p:spPr>
        <p:txBody>
          <a:bodyPr anchorCtr="0" anchor="t" bIns="50025" lIns="100075" spcFirstLastPara="1" rIns="100075" wrap="square" tIns="50025">
            <a:spAutoFit/>
          </a:bodyPr>
          <a:lstStyle/>
          <a:p>
            <a:pPr indent="0" lvl="0" marL="0" marR="0" rtl="0" algn="l">
              <a:lnSpc>
                <a:spcPct val="100000"/>
              </a:lnSpc>
              <a:spcBef>
                <a:spcPts val="0"/>
              </a:spcBef>
              <a:spcAft>
                <a:spcPts val="0"/>
              </a:spcAft>
              <a:buClr>
                <a:srgbClr val="000000"/>
              </a:buClr>
              <a:buSzPts val="1100"/>
              <a:buFont typeface="Arial"/>
              <a:buNone/>
            </a:pPr>
            <a:r>
              <a:rPr b="1" i="0" lang="sv" sz="1100" u="none" cap="none" strike="noStrike">
                <a:solidFill>
                  <a:schemeClr val="dk1"/>
                </a:solidFill>
                <a:latin typeface="Inter"/>
                <a:ea typeface="Inter"/>
                <a:cs typeface="Inter"/>
                <a:sym typeface="Inter"/>
              </a:rPr>
              <a:t>Impact Solution</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1" lang="sv" sz="1100" u="sng" cap="none" strike="noStrike">
                <a:solidFill>
                  <a:schemeClr val="hlink"/>
                </a:solidFill>
                <a:latin typeface="Inter"/>
                <a:ea typeface="Inter"/>
                <a:cs typeface="Inter"/>
                <a:sym typeface="Inter"/>
                <a:hlinkClick r:id="rId4"/>
              </a:rPr>
              <a:t>support@impactsolution.se</a:t>
            </a:r>
            <a:endParaRPr b="0" i="1" sz="1100" u="none" cap="none" strike="noStrike">
              <a:solidFill>
                <a:srgbClr val="A8A9A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sv" sz="1100" u="sng" cap="none" strike="noStrike">
                <a:solidFill>
                  <a:srgbClr val="A8A9A3"/>
                </a:solidFill>
                <a:latin typeface="Inter"/>
                <a:ea typeface="Inter"/>
                <a:cs typeface="Inter"/>
                <a:sym typeface="Inter"/>
                <a:hlinkClick r:id="rId5">
                  <a:extLst>
                    <a:ext uri="{A12FA001-AC4F-418D-AE19-62706E023703}">
                      <ahyp:hlinkClr val="tx"/>
                    </a:ext>
                  </a:extLst>
                </a:hlinkClick>
              </a:rPr>
              <a:t>impactsolution.se</a:t>
            </a:r>
            <a:endParaRPr b="0" i="0" sz="1100" u="none" cap="none" strike="noStrike">
              <a:solidFill>
                <a:srgbClr val="A8A9A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sv" sz="1100" u="none" cap="none" strike="noStrike">
                <a:solidFill>
                  <a:schemeClr val="dk1"/>
                </a:solidFill>
                <a:latin typeface="Inter"/>
                <a:ea typeface="Inter"/>
                <a:cs typeface="Inter"/>
                <a:sym typeface="Inter"/>
              </a:rPr>
              <a:t>010 - 20 71 510</a:t>
            </a:r>
            <a:endParaRPr b="0" i="0" sz="11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CC0000"/>
              </a:solidFill>
              <a:latin typeface="Inter"/>
              <a:ea typeface="Inter"/>
              <a:cs typeface="Inter"/>
              <a:sym typeface="Inter"/>
            </a:endParaRPr>
          </a:p>
        </p:txBody>
      </p:sp>
      <p:pic>
        <p:nvPicPr>
          <p:cNvPr id="62" name="Google Shape;62;p1"/>
          <p:cNvPicPr preferRelativeResize="0"/>
          <p:nvPr/>
        </p:nvPicPr>
        <p:blipFill rotWithShape="1">
          <a:blip r:embed="rId6">
            <a:alphaModFix/>
          </a:blip>
          <a:srcRect b="0" l="0" r="0" t="0"/>
          <a:stretch/>
        </p:blipFill>
        <p:spPr>
          <a:xfrm>
            <a:off x="6414758" y="681368"/>
            <a:ext cx="725413" cy="725413"/>
          </a:xfrm>
          <a:prstGeom prst="rect">
            <a:avLst/>
          </a:prstGeom>
          <a:noFill/>
          <a:ln>
            <a:noFill/>
          </a:ln>
        </p:spPr>
      </p:pic>
      <p:sp>
        <p:nvSpPr>
          <p:cNvPr id="63" name="Google Shape;63;p1"/>
          <p:cNvSpPr txBox="1"/>
          <p:nvPr/>
        </p:nvSpPr>
        <p:spPr>
          <a:xfrm>
            <a:off x="446175" y="327375"/>
            <a:ext cx="30000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sv" sz="1100" u="none" cap="none" strike="noStrike">
                <a:solidFill>
                  <a:schemeClr val="dk1"/>
                </a:solidFill>
                <a:latin typeface="Inter"/>
                <a:ea typeface="Inter"/>
                <a:cs typeface="Inter"/>
                <a:sym typeface="Inter"/>
              </a:rPr>
              <a:t>Version. 1.0 2024-06-05</a:t>
            </a:r>
            <a:endParaRPr b="0" i="0" sz="1400" u="none" cap="none" strike="noStrike">
              <a:solidFill>
                <a:schemeClr val="dk1"/>
              </a:solidFill>
              <a:latin typeface="Arial"/>
              <a:ea typeface="Arial"/>
              <a:cs typeface="Arial"/>
              <a:sym typeface="Arial"/>
            </a:endParaRPr>
          </a:p>
        </p:txBody>
      </p:sp>
      <p:sp>
        <p:nvSpPr>
          <p:cNvPr id="64" name="Google Shape;64;p1"/>
          <p:cNvSpPr txBox="1"/>
          <p:nvPr/>
        </p:nvSpPr>
        <p:spPr>
          <a:xfrm>
            <a:off x="549675" y="2336575"/>
            <a:ext cx="3761700" cy="4488000"/>
          </a:xfrm>
          <a:prstGeom prst="rect">
            <a:avLst/>
          </a:prstGeom>
          <a:noFill/>
          <a:ln>
            <a:noFill/>
          </a:ln>
        </p:spPr>
        <p:txBody>
          <a:bodyPr anchorCtr="0" anchor="t" bIns="50025" lIns="100075" spcFirstLastPara="1" rIns="100075" wrap="square" tIns="50025">
            <a:spAutoFit/>
          </a:bodyPr>
          <a:lstStyle/>
          <a:p>
            <a:pPr indent="0" lvl="0" marL="0" marR="0" rtl="0" algn="l">
              <a:lnSpc>
                <a:spcPct val="100000"/>
              </a:lnSpc>
              <a:spcBef>
                <a:spcPts val="0"/>
              </a:spcBef>
              <a:spcAft>
                <a:spcPts val="0"/>
              </a:spcAft>
              <a:buClr>
                <a:srgbClr val="000000"/>
              </a:buClr>
              <a:buSzPts val="1500"/>
              <a:buFont typeface="Arial"/>
              <a:buNone/>
            </a:pPr>
            <a:br>
              <a:rPr b="1" i="0" lang="sv" sz="1500" u="sng" cap="none" strike="noStrike">
                <a:solidFill>
                  <a:schemeClr val="dk1"/>
                </a:solidFill>
                <a:latin typeface="Inter"/>
                <a:ea typeface="Inter"/>
                <a:cs typeface="Inter"/>
                <a:sym typeface="Inter"/>
              </a:rPr>
            </a:br>
            <a:endParaRPr b="0" i="0" sz="1500" u="none" cap="none" strike="noStrike">
              <a:solidFill>
                <a:schemeClr val="dk1"/>
              </a:solidFill>
              <a:latin typeface="Inter"/>
              <a:ea typeface="Inter"/>
              <a:cs typeface="Inter"/>
              <a:sym typeface="Inter"/>
            </a:endParaRPr>
          </a:p>
          <a:p>
            <a:pPr indent="-323850" lvl="0" marL="457200" marR="0" rtl="0" algn="l">
              <a:lnSpc>
                <a:spcPct val="100000"/>
              </a:lnSpc>
              <a:spcBef>
                <a:spcPts val="0"/>
              </a:spcBef>
              <a:spcAft>
                <a:spcPts val="0"/>
              </a:spcAft>
              <a:buClr>
                <a:schemeClr val="dk1"/>
              </a:buClr>
              <a:buSzPts val="1500"/>
              <a:buFont typeface="Inter"/>
              <a:buChar char="●"/>
            </a:pPr>
            <a:r>
              <a:rPr lang="sv" sz="1500">
                <a:solidFill>
                  <a:schemeClr val="dk1"/>
                </a:solidFill>
                <a:latin typeface="Inter"/>
                <a:ea typeface="Inter"/>
                <a:cs typeface="Inter"/>
                <a:sym typeface="Inter"/>
              </a:rPr>
              <a:t>Första steget till att bygga om din maskin för att få in exempelvis nya hyllor är att skapa ett supportärende till </a:t>
            </a:r>
            <a:r>
              <a:rPr lang="sv" sz="1500" u="sng">
                <a:solidFill>
                  <a:schemeClr val="hlink"/>
                </a:solidFill>
                <a:latin typeface="Inter"/>
                <a:ea typeface="Inter"/>
                <a:cs typeface="Inter"/>
                <a:sym typeface="Inter"/>
                <a:hlinkClick r:id="rId7"/>
              </a:rPr>
              <a:t>support@impactsolution.se</a:t>
            </a:r>
            <a:r>
              <a:rPr lang="sv" sz="1500">
                <a:solidFill>
                  <a:schemeClr val="dk1"/>
                </a:solidFill>
                <a:latin typeface="Inter"/>
                <a:ea typeface="Inter"/>
                <a:cs typeface="Inter"/>
                <a:sym typeface="Inter"/>
              </a:rPr>
              <a:t> .</a:t>
            </a:r>
            <a:endParaRPr sz="1500">
              <a:solidFill>
                <a:schemeClr val="dk1"/>
              </a:solidFill>
              <a:latin typeface="Inter"/>
              <a:ea typeface="Inter"/>
              <a:cs typeface="Inter"/>
              <a:sym typeface="Inter"/>
            </a:endParaRPr>
          </a:p>
          <a:p>
            <a:pPr indent="-323850" lvl="0" marL="457200" marR="0" rtl="0" algn="l">
              <a:lnSpc>
                <a:spcPct val="100000"/>
              </a:lnSpc>
              <a:spcBef>
                <a:spcPts val="0"/>
              </a:spcBef>
              <a:spcAft>
                <a:spcPts val="0"/>
              </a:spcAft>
              <a:buClr>
                <a:schemeClr val="dk1"/>
              </a:buClr>
              <a:buSzPts val="1500"/>
              <a:buFont typeface="Inter"/>
              <a:buChar char="●"/>
            </a:pPr>
            <a:r>
              <a:rPr lang="sv" sz="1500">
                <a:solidFill>
                  <a:schemeClr val="dk1"/>
                </a:solidFill>
                <a:latin typeface="Inter"/>
                <a:ea typeface="Inter"/>
                <a:cs typeface="Inter"/>
                <a:sym typeface="Inter"/>
              </a:rPr>
              <a:t>Var utförlig med att förklara vad du vill byta ut och hur dina hyllor ser ut idag. Inkludera gärna bilder. Berätta också gärna vilken maskin det gäller och vart den står.</a:t>
            </a:r>
            <a:endParaRPr sz="1500">
              <a:solidFill>
                <a:schemeClr val="dk1"/>
              </a:solidFill>
              <a:latin typeface="Inter"/>
              <a:ea typeface="Inter"/>
              <a:cs typeface="Inter"/>
              <a:sym typeface="Inter"/>
            </a:endParaRPr>
          </a:p>
          <a:p>
            <a:pPr indent="0" lvl="0" marL="0" marR="0" rtl="0" algn="l">
              <a:lnSpc>
                <a:spcPct val="100000"/>
              </a:lnSpc>
              <a:spcBef>
                <a:spcPts val="0"/>
              </a:spcBef>
              <a:spcAft>
                <a:spcPts val="0"/>
              </a:spcAft>
              <a:buNone/>
            </a:pPr>
            <a:r>
              <a:t/>
            </a:r>
            <a:endParaRPr sz="1500">
              <a:solidFill>
                <a:schemeClr val="dk1"/>
              </a:solidFill>
              <a:latin typeface="Inter"/>
              <a:ea typeface="Inter"/>
              <a:cs typeface="Inter"/>
              <a:sym typeface="Inter"/>
            </a:endParaRPr>
          </a:p>
          <a:p>
            <a:pPr indent="-323850" lvl="0" marL="457200" marR="0" rtl="0" algn="l">
              <a:lnSpc>
                <a:spcPct val="100000"/>
              </a:lnSpc>
              <a:spcBef>
                <a:spcPts val="0"/>
              </a:spcBef>
              <a:spcAft>
                <a:spcPts val="0"/>
              </a:spcAft>
              <a:buClr>
                <a:schemeClr val="dk1"/>
              </a:buClr>
              <a:buSzPts val="1500"/>
              <a:buFont typeface="Inter"/>
              <a:buChar char="●"/>
            </a:pPr>
            <a:r>
              <a:rPr lang="sv" sz="1500">
                <a:solidFill>
                  <a:schemeClr val="dk1"/>
                </a:solidFill>
                <a:latin typeface="Inter"/>
                <a:ea typeface="Inter"/>
                <a:cs typeface="Inter"/>
                <a:sym typeface="Inter"/>
              </a:rPr>
              <a:t>Vi kontaktar sedan dig med hur du ska gå </a:t>
            </a:r>
            <a:r>
              <a:rPr lang="sv" sz="1500">
                <a:solidFill>
                  <a:schemeClr val="dk1"/>
                </a:solidFill>
                <a:latin typeface="Inter"/>
                <a:ea typeface="Inter"/>
                <a:cs typeface="Inter"/>
                <a:sym typeface="Inter"/>
              </a:rPr>
              <a:t>tillväga</a:t>
            </a:r>
            <a:r>
              <a:rPr lang="sv" sz="1500">
                <a:solidFill>
                  <a:schemeClr val="dk1"/>
                </a:solidFill>
                <a:latin typeface="Inter"/>
                <a:ea typeface="Inter"/>
                <a:cs typeface="Inter"/>
                <a:sym typeface="Inter"/>
              </a:rPr>
              <a:t>, om vi skickar reservdelar till dig som du kan bygga om maskinen med själv, eller om en tekniker kommer på besök. </a:t>
            </a:r>
            <a:endParaRPr sz="1500">
              <a:solidFill>
                <a:schemeClr val="dk1"/>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