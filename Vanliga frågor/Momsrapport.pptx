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embeddedFontLst>
    <p:embeddedFont>
      <p:font typeface="Inter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1226">
          <p15:clr>
            <a:srgbClr val="747775"/>
          </p15:clr>
        </p15:guide>
        <p15:guide id="3" pos="3515">
          <p15:clr>
            <a:srgbClr val="747775"/>
          </p15:clr>
        </p15:guide>
        <p15:guide id="4" orient="horz" pos="652">
          <p15:clr>
            <a:srgbClr val="747775"/>
          </p15:clr>
        </p15:guide>
        <p15:guide id="5" orient="horz" pos="2010">
          <p15:clr>
            <a:srgbClr val="747775"/>
          </p15:clr>
        </p15:guide>
        <p15:guide id="6" orient="horz" pos="4725">
          <p15:clr>
            <a:srgbClr val="747775"/>
          </p15:clr>
        </p15:guide>
        <p15:guide id="7" orient="horz" pos="6083">
          <p15:clr>
            <a:srgbClr val="747775"/>
          </p15:clr>
        </p15:guide>
      </p15:sldGuideLst>
    </p:ext>
    <p:ext uri="GoogleSlidesCustomDataVersion2">
      <go:slidesCustomData xmlns:go="http://customooxmlschemas.google.com/" r:id="rId13" roundtripDataSignature="AMtx7mgUNxQME8A7ktX5IloAJiA2czL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1226"/>
        <p:guide pos="3515"/>
        <p:guide pos="652" orient="horz"/>
        <p:guide pos="2010" orient="horz"/>
        <p:guide pos="4725" orient="horz"/>
        <p:guide pos="608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italic.fntdata"/><Relationship Id="rId10" Type="http://schemas.openxmlformats.org/officeDocument/2006/relationships/font" Target="fonts/Inter-bold.fntdata"/><Relationship Id="rId13" Type="http://customschemas.google.com/relationships/presentationmetadata" Target="metadata"/><Relationship Id="rId12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3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2337829" y="1143000"/>
            <a:ext cx="2182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43bad0e810_0_2:notes"/>
          <p:cNvSpPr/>
          <p:nvPr>
            <p:ph idx="2" type="sldImg"/>
          </p:nvPr>
        </p:nvSpPr>
        <p:spPr>
          <a:xfrm>
            <a:off x="221703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43bad0e81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3bad0e810_0_8:notes"/>
          <p:cNvSpPr/>
          <p:nvPr>
            <p:ph idx="2" type="sldImg"/>
          </p:nvPr>
        </p:nvSpPr>
        <p:spPr>
          <a:xfrm>
            <a:off x="2217034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3bad0e81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ctrTitle"/>
          </p:nvPr>
        </p:nvSpPr>
        <p:spPr>
          <a:xfrm>
            <a:off x="257723" y="1547807"/>
            <a:ext cx="7044900" cy="426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"/>
          <p:cNvSpPr txBox="1"/>
          <p:nvPr>
            <p:ph idx="1" type="subTitle"/>
          </p:nvPr>
        </p:nvSpPr>
        <p:spPr>
          <a:xfrm>
            <a:off x="257716" y="5891519"/>
            <a:ext cx="7044900" cy="16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257716" y="4471142"/>
            <a:ext cx="7044900" cy="17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4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" type="body"/>
          </p:nvPr>
        </p:nvSpPr>
        <p:spPr>
          <a:xfrm>
            <a:off x="257716" y="2395741"/>
            <a:ext cx="7044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" type="body"/>
          </p:nvPr>
        </p:nvSpPr>
        <p:spPr>
          <a:xfrm>
            <a:off x="257716" y="2395741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6"/>
          <p:cNvSpPr txBox="1"/>
          <p:nvPr>
            <p:ph idx="2" type="body"/>
          </p:nvPr>
        </p:nvSpPr>
        <p:spPr>
          <a:xfrm>
            <a:off x="3995463" y="2395741"/>
            <a:ext cx="3306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257716" y="1154970"/>
            <a:ext cx="2321700" cy="157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257716" y="2888671"/>
            <a:ext cx="2321700" cy="66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405342" y="935763"/>
            <a:ext cx="5265000" cy="85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9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3780163" y="-260"/>
            <a:ext cx="3780300" cy="10692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/>
          <p:nvPr>
            <p:ph type="title"/>
          </p:nvPr>
        </p:nvSpPr>
        <p:spPr>
          <a:xfrm>
            <a:off x="219517" y="2563498"/>
            <a:ext cx="33444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0"/>
          <p:cNvSpPr txBox="1"/>
          <p:nvPr>
            <p:ph idx="1" type="subTitle"/>
          </p:nvPr>
        </p:nvSpPr>
        <p:spPr>
          <a:xfrm>
            <a:off x="219517" y="5826974"/>
            <a:ext cx="33444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4084015" y="1505192"/>
            <a:ext cx="3172200" cy="76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257716" y="8794431"/>
            <a:ext cx="4959900" cy="12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hasCustomPrompt="1" type="title"/>
          </p:nvPr>
        </p:nvSpPr>
        <p:spPr>
          <a:xfrm>
            <a:off x="257716" y="2299389"/>
            <a:ext cx="7044900" cy="40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257716" y="6552780"/>
            <a:ext cx="7044900" cy="27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257716" y="2395741"/>
            <a:ext cx="70449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2" type="sldNum"/>
          </p:nvPr>
        </p:nvSpPr>
        <p:spPr>
          <a:xfrm>
            <a:off x="7005089" y="9693797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support@impactsolution.se" TargetMode="External"/><Relationship Id="rId5" Type="http://schemas.openxmlformats.org/officeDocument/2006/relationships/hyperlink" Target="http://www.impactsolution.se/" TargetMode="External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6885818" y="2817153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7053818" y="2981646"/>
            <a:ext cx="203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 flipH="1">
            <a:off x="3780000" y="3426898"/>
            <a:ext cx="3780000" cy="7265100"/>
          </a:xfrm>
          <a:prstGeom prst="rtTriangle">
            <a:avLst/>
          </a:prstGeom>
          <a:solidFill>
            <a:srgbClr val="5EBD84"/>
          </a:solidFill>
          <a:ln>
            <a:noFill/>
          </a:ln>
        </p:spPr>
        <p:txBody>
          <a:bodyPr anchorCtr="0" anchor="ctr" bIns="50025" lIns="100075" spcFirstLastPara="1" rIns="100075" wrap="square" tIns="50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9969" y="9727304"/>
            <a:ext cx="1885462" cy="602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397512" y="884488"/>
            <a:ext cx="6765000" cy="17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sv" sz="33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Momsrapporter</a:t>
            </a:r>
            <a:endParaRPr b="1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Momsrapporter, momsunderlag eller </a:t>
            </a:r>
            <a:r>
              <a:rPr b="1"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försäljningsunderlag</a:t>
            </a:r>
            <a:r>
              <a:rPr b="1"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kan underlätta bokföringen och det är populärt hos många av våra kunder för att underlätta arbetet. Det går även att ta fram momsrapporter manuellt men det kräver en del arbete.</a:t>
            </a:r>
            <a:endParaRPr b="1" sz="15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lang="sv" sz="15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1" i="0" sz="33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" name="Google Shape;59;p1"/>
          <p:cNvSpPr txBox="1"/>
          <p:nvPr/>
        </p:nvSpPr>
        <p:spPr>
          <a:xfrm>
            <a:off x="549675" y="5908100"/>
            <a:ext cx="3780000" cy="3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0" name="Google Shape;60;p1"/>
          <p:cNvCxnSpPr/>
          <p:nvPr/>
        </p:nvCxnSpPr>
        <p:spPr>
          <a:xfrm>
            <a:off x="746666" y="9412616"/>
            <a:ext cx="6241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" name="Google Shape;61;p1"/>
          <p:cNvSpPr txBox="1"/>
          <p:nvPr/>
        </p:nvSpPr>
        <p:spPr>
          <a:xfrm>
            <a:off x="721725" y="9561623"/>
            <a:ext cx="2286300" cy="94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Impact Solution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sv" sz="11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support@impactsolution.se</a:t>
            </a:r>
            <a:endParaRPr b="0" i="1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sng" cap="none" strike="noStrike">
                <a:solidFill>
                  <a:srgbClr val="A8A9A3"/>
                </a:solidFill>
                <a:latin typeface="Inter"/>
                <a:ea typeface="Inter"/>
                <a:cs typeface="Inter"/>
                <a:sym typeface="Inter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impactsolution.se</a:t>
            </a:r>
            <a:endParaRPr b="0" i="0" sz="1100" u="none" cap="none" strike="noStrike">
              <a:solidFill>
                <a:srgbClr val="A8A9A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010 - 20 71 510</a:t>
            </a:r>
            <a:endParaRPr b="0" i="0" sz="11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CC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" name="Google Shape;6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4758" y="681368"/>
            <a:ext cx="725413" cy="72541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"/>
          <p:cNvSpPr txBox="1"/>
          <p:nvPr/>
        </p:nvSpPr>
        <p:spPr>
          <a:xfrm>
            <a:off x="446175" y="32737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sv" sz="11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Version. 1.0 2024-06-05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549675" y="2336575"/>
            <a:ext cx="3761700" cy="59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25" lIns="100075" spcFirstLastPara="1" rIns="100075" wrap="square" tIns="500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600">
                <a:solidFill>
                  <a:schemeClr val="dk1"/>
                </a:solidFill>
                <a:highlight>
                  <a:srgbClr val="FFFFFF"/>
                </a:highlight>
              </a:rPr>
              <a:t>Som nämnt i tidigare utskick så är rapportgenerering en tjänst som vanligtvis kostar, vi bjöd troligtvis på den i ett par månader till er som onboarding. 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600">
                <a:solidFill>
                  <a:schemeClr val="dk1"/>
                </a:solidFill>
                <a:highlight>
                  <a:srgbClr val="FFFFFF"/>
                </a:highlight>
              </a:rPr>
              <a:t>Om ni känner att ni har stor nytta eller sparar tid med rapporterna får ni gärna fortsätta </a:t>
            </a:r>
            <a:r>
              <a:rPr lang="sv" sz="1600">
                <a:solidFill>
                  <a:schemeClr val="dk1"/>
                </a:solidFill>
                <a:highlight>
                  <a:srgbClr val="FFFFFF"/>
                </a:highlight>
              </a:rPr>
              <a:t>prenumerera</a:t>
            </a:r>
            <a:r>
              <a:rPr lang="sv" sz="1600">
                <a:solidFill>
                  <a:schemeClr val="dk1"/>
                </a:solidFill>
                <a:highlight>
                  <a:srgbClr val="FFFFFF"/>
                </a:highlight>
              </a:rPr>
              <a:t> på dem.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600">
                <a:solidFill>
                  <a:schemeClr val="dk1"/>
                </a:solidFill>
                <a:highlight>
                  <a:srgbClr val="FFFFFF"/>
                </a:highlight>
              </a:rPr>
              <a:t>Endast momsrapporter kostar 99kr/ mån och försäljningsrapporter med AI-insikter om just din försäljning (UNO) kostar 149kr/ mån.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600">
                <a:solidFill>
                  <a:schemeClr val="dk1"/>
                </a:solidFill>
                <a:highlight>
                  <a:srgbClr val="FFFFFF"/>
                </a:highlight>
              </a:rPr>
              <a:t>Vid teckning kan även rapporter för tidigare månader skickas ut. 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v" sz="1600">
                <a:solidFill>
                  <a:schemeClr val="dk1"/>
                </a:solidFill>
                <a:highlight>
                  <a:srgbClr val="FFFFFF"/>
                </a:highlight>
              </a:rPr>
              <a:t>För att se hur man manuellt tar </a:t>
            </a:r>
            <a:r>
              <a:rPr lang="sv" sz="1600">
                <a:solidFill>
                  <a:schemeClr val="dk1"/>
                </a:solidFill>
                <a:highlight>
                  <a:srgbClr val="FFFFFF"/>
                </a:highlight>
              </a:rPr>
              <a:t>fram</a:t>
            </a:r>
            <a:r>
              <a:rPr lang="sv" sz="1600">
                <a:solidFill>
                  <a:schemeClr val="dk1"/>
                </a:solidFill>
                <a:highlight>
                  <a:srgbClr val="FFFFFF"/>
                </a:highlight>
              </a:rPr>
              <a:t> en momsrapport följ </a:t>
            </a:r>
            <a:r>
              <a:rPr lang="sv" sz="1600">
                <a:solidFill>
                  <a:schemeClr val="dk1"/>
                </a:solidFill>
                <a:highlight>
                  <a:srgbClr val="FFFFFF"/>
                </a:highlight>
              </a:rPr>
              <a:t>anvisningar</a:t>
            </a:r>
            <a:r>
              <a:rPr lang="sv" sz="1600">
                <a:solidFill>
                  <a:schemeClr val="dk1"/>
                </a:solidFill>
                <a:highlight>
                  <a:srgbClr val="FFFFFF"/>
                </a:highlight>
              </a:rPr>
              <a:t> på nästkommande sida.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3bad0e810_0_2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43bad0e810_0_2"/>
          <p:cNvSpPr txBox="1"/>
          <p:nvPr>
            <p:ph idx="1" type="body"/>
          </p:nvPr>
        </p:nvSpPr>
        <p:spPr>
          <a:xfrm>
            <a:off x="257716" y="2395741"/>
            <a:ext cx="7044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g343bad0e810_0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0"/>
            <a:ext cx="7451671" cy="1069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3bad0e810_0_8"/>
          <p:cNvSpPr txBox="1"/>
          <p:nvPr>
            <p:ph type="title"/>
          </p:nvPr>
        </p:nvSpPr>
        <p:spPr>
          <a:xfrm>
            <a:off x="257716" y="925108"/>
            <a:ext cx="7044900" cy="11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43bad0e810_0_8"/>
          <p:cNvSpPr txBox="1"/>
          <p:nvPr>
            <p:ph idx="1" type="body"/>
          </p:nvPr>
        </p:nvSpPr>
        <p:spPr>
          <a:xfrm>
            <a:off x="257716" y="2395741"/>
            <a:ext cx="7044900" cy="71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g343bad0e810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" y="0"/>
            <a:ext cx="7502560" cy="1069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