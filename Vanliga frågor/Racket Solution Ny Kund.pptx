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10692000" cx="7560000"/>
  <p:notesSz cx="6858000" cy="9144000"/>
  <p:embeddedFontLst>
    <p:embeddedFont>
      <p:font typeface="Inter"/>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1226">
          <p15:clr>
            <a:srgbClr val="747775"/>
          </p15:clr>
        </p15:guide>
        <p15:guide id="3" pos="3515">
          <p15:clr>
            <a:srgbClr val="747775"/>
          </p15:clr>
        </p15:guide>
        <p15:guide id="4" orient="horz" pos="652">
          <p15:clr>
            <a:srgbClr val="747775"/>
          </p15:clr>
        </p15:guide>
        <p15:guide id="5" orient="horz" pos="2010">
          <p15:clr>
            <a:srgbClr val="747775"/>
          </p15:clr>
        </p15:guide>
        <p15:guide id="6" orient="horz" pos="4725">
          <p15:clr>
            <a:srgbClr val="747775"/>
          </p15:clr>
        </p15:guide>
        <p15:guide id="7" orient="horz" pos="6083">
          <p15:clr>
            <a:srgbClr val="747775"/>
          </p15:clr>
        </p15:guide>
      </p15:sldGuideLst>
    </p:ext>
    <p:ext uri="GoogleSlidesCustomDataVersion2">
      <go:slidesCustomData xmlns:go="http://customooxmlschemas.google.com/" r:id="rId11" roundtripDataSignature="AMtx7mhGjp2kanmuL80Dy3zEAjfyYmId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1226"/>
        <p:guide pos="3515"/>
        <p:guide pos="652" orient="horz"/>
        <p:guide pos="2010" orient="horz"/>
        <p:guide pos="4725" orient="horz"/>
        <p:guide pos="6083" orient="horz"/>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font" Target="fonts/Int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ter-regular.fntdata"/><Relationship Id="rId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
          <p:cNvSpPr txBox="1"/>
          <p:nvPr>
            <p:ph type="ctrTitle"/>
          </p:nvPr>
        </p:nvSpPr>
        <p:spPr>
          <a:xfrm>
            <a:off x="257723" y="1547807"/>
            <a:ext cx="7044900" cy="426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
          <p:cNvSpPr txBox="1"/>
          <p:nvPr>
            <p:ph idx="1" type="subTitle"/>
          </p:nvPr>
        </p:nvSpPr>
        <p:spPr>
          <a:xfrm>
            <a:off x="257716" y="5891519"/>
            <a:ext cx="7044900" cy="1647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5"/>
          <p:cNvSpPr txBox="1"/>
          <p:nvPr>
            <p:ph type="title"/>
          </p:nvPr>
        </p:nvSpPr>
        <p:spPr>
          <a:xfrm>
            <a:off x="257716" y="4471142"/>
            <a:ext cx="7044900" cy="1749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5"/>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6"/>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6"/>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6"/>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7"/>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7"/>
          <p:cNvSpPr txBox="1"/>
          <p:nvPr>
            <p:ph idx="1" type="body"/>
          </p:nvPr>
        </p:nvSpPr>
        <p:spPr>
          <a:xfrm>
            <a:off x="257716"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7"/>
          <p:cNvSpPr txBox="1"/>
          <p:nvPr>
            <p:ph idx="2" type="body"/>
          </p:nvPr>
        </p:nvSpPr>
        <p:spPr>
          <a:xfrm>
            <a:off x="3995463"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7"/>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8"/>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8"/>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9"/>
          <p:cNvSpPr txBox="1"/>
          <p:nvPr>
            <p:ph type="title"/>
          </p:nvPr>
        </p:nvSpPr>
        <p:spPr>
          <a:xfrm>
            <a:off x="257716" y="1154970"/>
            <a:ext cx="2321700" cy="1570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9"/>
          <p:cNvSpPr txBox="1"/>
          <p:nvPr>
            <p:ph idx="1" type="body"/>
          </p:nvPr>
        </p:nvSpPr>
        <p:spPr>
          <a:xfrm>
            <a:off x="257716" y="2888671"/>
            <a:ext cx="2321700" cy="6609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9"/>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0"/>
          <p:cNvSpPr txBox="1"/>
          <p:nvPr>
            <p:ph type="title"/>
          </p:nvPr>
        </p:nvSpPr>
        <p:spPr>
          <a:xfrm>
            <a:off x="405342" y="935763"/>
            <a:ext cx="5265000" cy="8504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0"/>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1"/>
          <p:cNvSpPr/>
          <p:nvPr/>
        </p:nvSpPr>
        <p:spPr>
          <a:xfrm>
            <a:off x="3780163" y="-260"/>
            <a:ext cx="3780300" cy="10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1"/>
          <p:cNvSpPr txBox="1"/>
          <p:nvPr>
            <p:ph type="title"/>
          </p:nvPr>
        </p:nvSpPr>
        <p:spPr>
          <a:xfrm>
            <a:off x="219517" y="2563498"/>
            <a:ext cx="3344400" cy="3081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1"/>
          <p:cNvSpPr txBox="1"/>
          <p:nvPr>
            <p:ph idx="1" type="subTitle"/>
          </p:nvPr>
        </p:nvSpPr>
        <p:spPr>
          <a:xfrm>
            <a:off x="219517" y="5826974"/>
            <a:ext cx="3344400" cy="2567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1"/>
          <p:cNvSpPr txBox="1"/>
          <p:nvPr>
            <p:ph idx="2" type="body"/>
          </p:nvPr>
        </p:nvSpPr>
        <p:spPr>
          <a:xfrm>
            <a:off x="4084015" y="1505192"/>
            <a:ext cx="3172200" cy="76812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1"/>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2"/>
          <p:cNvSpPr txBox="1"/>
          <p:nvPr>
            <p:ph idx="1" type="body"/>
          </p:nvPr>
        </p:nvSpPr>
        <p:spPr>
          <a:xfrm>
            <a:off x="257716" y="8794431"/>
            <a:ext cx="4959900" cy="12579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3"/>
          <p:cNvSpPr txBox="1"/>
          <p:nvPr>
            <p:ph hasCustomPrompt="1" type="title"/>
          </p:nvPr>
        </p:nvSpPr>
        <p:spPr>
          <a:xfrm>
            <a:off x="257716" y="2299389"/>
            <a:ext cx="7044900" cy="4081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3"/>
          <p:cNvSpPr txBox="1"/>
          <p:nvPr>
            <p:ph idx="1" type="body"/>
          </p:nvPr>
        </p:nvSpPr>
        <p:spPr>
          <a:xfrm>
            <a:off x="257716" y="6552780"/>
            <a:ext cx="7044900" cy="2703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3"/>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6885818" y="2499428"/>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5" name="Google Shape;55;p1"/>
          <p:cNvSpPr txBox="1"/>
          <p:nvPr/>
        </p:nvSpPr>
        <p:spPr>
          <a:xfrm>
            <a:off x="7053818" y="2663921"/>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6" name="Google Shape;56;p1"/>
          <p:cNvSpPr/>
          <p:nvPr/>
        </p:nvSpPr>
        <p:spPr>
          <a:xfrm flipH="1">
            <a:off x="3780000" y="3426923"/>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57" name="Google Shape;57;p1"/>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sp>
        <p:nvSpPr>
          <p:cNvPr id="58" name="Google Shape;58;p1"/>
          <p:cNvSpPr txBox="1"/>
          <p:nvPr/>
        </p:nvSpPr>
        <p:spPr>
          <a:xfrm>
            <a:off x="397512" y="1247913"/>
            <a:ext cx="6765000" cy="13017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chemeClr val="dk1"/>
              </a:buClr>
              <a:buSzPts val="1200"/>
              <a:buFont typeface="Arial"/>
              <a:buNone/>
            </a:pPr>
            <a:r>
              <a:rPr b="1" lang="sv" sz="3300">
                <a:solidFill>
                  <a:schemeClr val="dk1"/>
                </a:solidFill>
                <a:latin typeface="Inter"/>
                <a:ea typeface="Inter"/>
                <a:cs typeface="Inter"/>
                <a:sym typeface="Inter"/>
              </a:rPr>
              <a:t>Racket Solution Ny Kund</a:t>
            </a:r>
            <a:endParaRPr b="1"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200"/>
              <a:buFont typeface="Arial"/>
              <a:buNone/>
            </a:pPr>
            <a:r>
              <a:rPr b="1" lang="sv" sz="1500">
                <a:solidFill>
                  <a:schemeClr val="dk1"/>
                </a:solidFill>
                <a:latin typeface="Inter"/>
                <a:ea typeface="Inter"/>
                <a:cs typeface="Inter"/>
                <a:sym typeface="Inter"/>
              </a:rPr>
              <a:t>Om en kund ska använda Racket Solution för första gången måste den ladda ner appen. Här kommer lite enkel information om vad som är viktigt när man ska använda appen för första gången.</a:t>
            </a:r>
            <a:endParaRPr b="1" i="0" sz="3300" u="none" cap="none" strike="noStrike">
              <a:solidFill>
                <a:schemeClr val="dk1"/>
              </a:solidFill>
              <a:latin typeface="Inter"/>
              <a:ea typeface="Inter"/>
              <a:cs typeface="Inter"/>
              <a:sym typeface="Inter"/>
            </a:endParaRPr>
          </a:p>
        </p:txBody>
      </p:sp>
      <p:sp>
        <p:nvSpPr>
          <p:cNvPr id="59" name="Google Shape;59;p1"/>
          <p:cNvSpPr txBox="1"/>
          <p:nvPr/>
        </p:nvSpPr>
        <p:spPr>
          <a:xfrm>
            <a:off x="474150" y="2861550"/>
            <a:ext cx="6142800" cy="49497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r>
              <a:rPr b="1" lang="sv" sz="1500" u="sng">
                <a:solidFill>
                  <a:schemeClr val="dk1"/>
                </a:solidFill>
                <a:latin typeface="Inter"/>
                <a:ea typeface="Inter"/>
                <a:cs typeface="Inter"/>
                <a:sym typeface="Inter"/>
              </a:rPr>
              <a:t>Ladda ner appen</a:t>
            </a:r>
            <a:endParaRPr b="1" i="0" sz="1500" u="sng" cap="none" strike="noStrike">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Racket Solution appen finns tillgänglig på både App Store och Google Play.</a:t>
            </a:r>
            <a:endParaRPr sz="1500">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Oftast sitter en QR-kod eller annan tydlig information om hur man laddar ner appen nära Racket Solution-skåpet.</a:t>
            </a:r>
            <a:endParaRPr sz="15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rtl="0" algn="l">
              <a:spcBef>
                <a:spcPts val="0"/>
              </a:spcBef>
              <a:spcAft>
                <a:spcPts val="0"/>
              </a:spcAft>
              <a:buClr>
                <a:schemeClr val="dk1"/>
              </a:buClr>
              <a:buSzPts val="1500"/>
              <a:buFont typeface="Arial"/>
              <a:buNone/>
            </a:pPr>
            <a:r>
              <a:rPr b="1" lang="sv" sz="1500" u="sng">
                <a:solidFill>
                  <a:schemeClr val="dk1"/>
                </a:solidFill>
                <a:latin typeface="Inter"/>
                <a:ea typeface="Inter"/>
                <a:cs typeface="Inter"/>
                <a:sym typeface="Inter"/>
              </a:rPr>
              <a:t>Hitta ditt RS-skåp</a:t>
            </a:r>
            <a:endParaRPr b="1" sz="1500" u="sng">
              <a:solidFill>
                <a:schemeClr val="dk1"/>
              </a:solidFill>
              <a:latin typeface="Inter"/>
              <a:ea typeface="Inter"/>
              <a:cs typeface="Inter"/>
              <a:sym typeface="Inter"/>
            </a:endParaRPr>
          </a:p>
          <a:p>
            <a:pPr indent="-323850" lvl="0" marL="457200" rtl="0" algn="l">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För att appen ska fungera måste kunden aktivera </a:t>
            </a:r>
            <a:r>
              <a:rPr b="1" lang="sv" sz="1500">
                <a:solidFill>
                  <a:schemeClr val="dk1"/>
                </a:solidFill>
                <a:latin typeface="Inter"/>
                <a:ea typeface="Inter"/>
                <a:cs typeface="Inter"/>
                <a:sym typeface="Inter"/>
              </a:rPr>
              <a:t>plasttjänster</a:t>
            </a:r>
            <a:r>
              <a:rPr lang="sv" sz="1500">
                <a:solidFill>
                  <a:schemeClr val="dk1"/>
                </a:solidFill>
                <a:latin typeface="Inter"/>
                <a:ea typeface="Inter"/>
                <a:cs typeface="Inter"/>
                <a:sym typeface="Inter"/>
              </a:rPr>
              <a:t> och </a:t>
            </a:r>
            <a:r>
              <a:rPr b="1" lang="sv" sz="1500">
                <a:solidFill>
                  <a:schemeClr val="dk1"/>
                </a:solidFill>
                <a:latin typeface="Inter"/>
                <a:ea typeface="Inter"/>
                <a:cs typeface="Inter"/>
                <a:sym typeface="Inter"/>
              </a:rPr>
              <a:t>bluetooth</a:t>
            </a:r>
            <a:r>
              <a:rPr lang="sv" sz="1500">
                <a:solidFill>
                  <a:schemeClr val="dk1"/>
                </a:solidFill>
                <a:latin typeface="Inter"/>
                <a:ea typeface="Inter"/>
                <a:cs typeface="Inter"/>
                <a:sym typeface="Inter"/>
              </a:rPr>
              <a:t>.</a:t>
            </a:r>
            <a:endParaRPr sz="1500">
              <a:solidFill>
                <a:schemeClr val="dk1"/>
              </a:solidFill>
              <a:latin typeface="Inter"/>
              <a:ea typeface="Inter"/>
              <a:cs typeface="Inter"/>
              <a:sym typeface="Inter"/>
            </a:endParaRPr>
          </a:p>
          <a:p>
            <a:pPr indent="-323850" lvl="0" marL="457200" rtl="0" algn="l">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Man måste stå bredvid ett skåp “på BlueTooth-avstånd” (20 m) för skåpet ska kunna hitta din enhet.</a:t>
            </a:r>
            <a:endParaRPr sz="1500">
              <a:solidFill>
                <a:schemeClr val="dk1"/>
              </a:solidFill>
              <a:latin typeface="Inter"/>
              <a:ea typeface="Inter"/>
              <a:cs typeface="Inter"/>
              <a:sym typeface="Inter"/>
            </a:endParaRPr>
          </a:p>
          <a:p>
            <a:pPr indent="-323850" lvl="0" marL="457200" rtl="0" algn="l">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Man måste även ha på </a:t>
            </a:r>
            <a:r>
              <a:rPr b="1" lang="sv" sz="1500">
                <a:solidFill>
                  <a:schemeClr val="dk1"/>
                </a:solidFill>
                <a:latin typeface="Inter"/>
                <a:ea typeface="Inter"/>
                <a:cs typeface="Inter"/>
                <a:sym typeface="Inter"/>
              </a:rPr>
              <a:t>WiFi</a:t>
            </a:r>
            <a:r>
              <a:rPr lang="sv" sz="1500">
                <a:solidFill>
                  <a:schemeClr val="dk1"/>
                </a:solidFill>
                <a:latin typeface="Inter"/>
                <a:ea typeface="Inter"/>
                <a:cs typeface="Inter"/>
                <a:sym typeface="Inter"/>
              </a:rPr>
              <a:t>/ </a:t>
            </a:r>
            <a:r>
              <a:rPr b="1" lang="sv" sz="1500">
                <a:solidFill>
                  <a:schemeClr val="dk1"/>
                </a:solidFill>
                <a:latin typeface="Inter"/>
                <a:ea typeface="Inter"/>
                <a:cs typeface="Inter"/>
                <a:sym typeface="Inter"/>
              </a:rPr>
              <a:t>mobildata</a:t>
            </a:r>
            <a:r>
              <a:rPr lang="sv" sz="1500">
                <a:solidFill>
                  <a:schemeClr val="dk1"/>
                </a:solidFill>
                <a:latin typeface="Inter"/>
                <a:ea typeface="Inter"/>
                <a:cs typeface="Inter"/>
                <a:sym typeface="Inter"/>
              </a:rPr>
              <a:t> eftersom appen använder detta för att kommunicera mot sitt API.</a:t>
            </a:r>
            <a:endParaRPr sz="1500">
              <a:solidFill>
                <a:schemeClr val="dk1"/>
              </a:solidFill>
              <a:latin typeface="Inter"/>
              <a:ea typeface="Inter"/>
              <a:cs typeface="Inter"/>
              <a:sym typeface="Inter"/>
            </a:endParaRPr>
          </a:p>
          <a:p>
            <a:pPr indent="0" lvl="0" marL="0" rtl="0" algn="l">
              <a:spcBef>
                <a:spcPts val="0"/>
              </a:spcBef>
              <a:spcAft>
                <a:spcPts val="0"/>
              </a:spcAft>
              <a:buNone/>
            </a:pPr>
            <a:r>
              <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500"/>
              <a:buFont typeface="Arial"/>
              <a:buNone/>
            </a:pPr>
            <a:r>
              <a:rPr b="1" lang="sv" sz="1500" u="sng">
                <a:solidFill>
                  <a:schemeClr val="dk1"/>
                </a:solidFill>
                <a:latin typeface="Inter"/>
                <a:ea typeface="Inter"/>
                <a:cs typeface="Inter"/>
                <a:sym typeface="Inter"/>
              </a:rPr>
              <a:t>Övrigt</a:t>
            </a:r>
            <a:endParaRPr b="1" sz="1500" u="sng">
              <a:solidFill>
                <a:schemeClr val="dk1"/>
              </a:solidFill>
              <a:latin typeface="Inter"/>
              <a:ea typeface="Inter"/>
              <a:cs typeface="Inter"/>
              <a:sym typeface="Inter"/>
            </a:endParaRPr>
          </a:p>
          <a:p>
            <a:pPr indent="-323850" lvl="0" marL="457200" rtl="0" algn="l">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Kom ihåg att Racket Solution-skåpen står i Sverige, Norge och Danmark. En stor del av samtalen sker därför på andra språk än svenska.</a:t>
            </a:r>
            <a:endParaRPr sz="1500">
              <a:solidFill>
                <a:schemeClr val="dk1"/>
              </a:solidFill>
              <a:latin typeface="Inter"/>
              <a:ea typeface="Inter"/>
              <a:cs typeface="Inter"/>
              <a:sym typeface="Inter"/>
            </a:endParaRPr>
          </a:p>
          <a:p>
            <a:pPr indent="-323850" lvl="0" marL="457200" rtl="0" algn="l">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Betallösningen sker genom att man fyller på pengar i sin plånbok. Kunder i Norge kan endast fylla på sin plånbok med </a:t>
            </a:r>
            <a:r>
              <a:rPr i="1" lang="sv" sz="1500">
                <a:solidFill>
                  <a:schemeClr val="dk1"/>
                </a:solidFill>
                <a:latin typeface="Inter"/>
                <a:ea typeface="Inter"/>
                <a:cs typeface="Inter"/>
                <a:sym typeface="Inter"/>
              </a:rPr>
              <a:t>Vipps</a:t>
            </a:r>
            <a:r>
              <a:rPr lang="sv" sz="1500">
                <a:solidFill>
                  <a:schemeClr val="dk1"/>
                </a:solidFill>
                <a:latin typeface="Inter"/>
                <a:ea typeface="Inter"/>
                <a:cs typeface="Inter"/>
                <a:sym typeface="Inter"/>
              </a:rPr>
              <a:t> (norska Swish)</a:t>
            </a:r>
            <a:endParaRPr sz="1500">
              <a:solidFill>
                <a:schemeClr val="dk1"/>
              </a:solidFill>
              <a:latin typeface="Inter"/>
              <a:ea typeface="Inter"/>
              <a:cs typeface="Inter"/>
              <a:sym typeface="Inter"/>
            </a:endParaRPr>
          </a:p>
        </p:txBody>
      </p:sp>
      <p:cxnSp>
        <p:nvCxnSpPr>
          <p:cNvPr id="60" name="Google Shape;60;p1"/>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61" name="Google Shape;61;p1"/>
          <p:cNvSpPr txBox="1"/>
          <p:nvPr/>
        </p:nvSpPr>
        <p:spPr>
          <a:xfrm>
            <a:off x="721714" y="9561630"/>
            <a:ext cx="2286300" cy="7782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500" u="none" cap="none" strike="noStrike">
              <a:solidFill>
                <a:srgbClr val="000000"/>
              </a:solidFill>
              <a:latin typeface="Arial"/>
              <a:ea typeface="Arial"/>
              <a:cs typeface="Arial"/>
              <a:sym typeface="Arial"/>
            </a:endParaRPr>
          </a:p>
        </p:txBody>
      </p:sp>
      <p:pic>
        <p:nvPicPr>
          <p:cNvPr id="62" name="Google Shape;62;p1"/>
          <p:cNvPicPr preferRelativeResize="0"/>
          <p:nvPr/>
        </p:nvPicPr>
        <p:blipFill rotWithShape="1">
          <a:blip r:embed="rId6">
            <a:alphaModFix/>
          </a:blip>
          <a:srcRect b="0" l="0" r="0" t="0"/>
          <a:stretch/>
        </p:blipFill>
        <p:spPr>
          <a:xfrm>
            <a:off x="6414758" y="363643"/>
            <a:ext cx="725413" cy="72541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