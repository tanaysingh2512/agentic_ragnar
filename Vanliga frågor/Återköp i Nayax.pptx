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embeddedFontLst>
    <p:embeddedFont>
      <p:font typeface="Inter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368">
          <p15:clr>
            <a:srgbClr val="747775"/>
          </p15:clr>
        </p15:guide>
        <p15:guide id="2" pos="1226">
          <p15:clr>
            <a:srgbClr val="747775"/>
          </p15:clr>
        </p15:guide>
        <p15:guide id="3" pos="3515">
          <p15:clr>
            <a:srgbClr val="747775"/>
          </p15:clr>
        </p15:guide>
        <p15:guide id="4" orient="horz" pos="652">
          <p15:clr>
            <a:srgbClr val="747775"/>
          </p15:clr>
        </p15:guide>
        <p15:guide id="5" orient="horz" pos="2010">
          <p15:clr>
            <a:srgbClr val="747775"/>
          </p15:clr>
        </p15:guide>
        <p15:guide id="6" orient="horz" pos="4725">
          <p15:clr>
            <a:srgbClr val="747775"/>
          </p15:clr>
        </p15:guide>
        <p15:guide id="7" orient="horz" pos="6083">
          <p15:clr>
            <a:srgbClr val="747775"/>
          </p15:clr>
        </p15:guide>
      </p15:sldGuideLst>
    </p:ext>
    <p:ext uri="GoogleSlidesCustomDataVersion2">
      <go:slidesCustomData xmlns:go="http://customooxmlschemas.google.com/" r:id="rId12" roundtripDataSignature="AMtx7mj3awiBFEismpQ88qVn8TQsh1oG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368" orient="horz"/>
        <p:guide pos="1226"/>
        <p:guide pos="3515"/>
        <p:guide pos="652" orient="horz"/>
        <p:guide pos="2010" orient="horz"/>
        <p:guide pos="4725" orient="horz"/>
        <p:guide pos="608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-boldItalic.fntdata"/><Relationship Id="rId10" Type="http://schemas.openxmlformats.org/officeDocument/2006/relationships/font" Target="fonts/Inter-italic.fntdata"/><Relationship Id="rId12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Int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34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2337829" y="1143000"/>
            <a:ext cx="2182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p2:notes"/>
          <p:cNvSpPr/>
          <p:nvPr>
            <p:ph idx="2" type="sldImg"/>
          </p:nvPr>
        </p:nvSpPr>
        <p:spPr>
          <a:xfrm>
            <a:off x="2337829" y="1143000"/>
            <a:ext cx="2182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ctrTitle"/>
          </p:nvPr>
        </p:nvSpPr>
        <p:spPr>
          <a:xfrm>
            <a:off x="257723" y="1547807"/>
            <a:ext cx="7044900" cy="426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4"/>
          <p:cNvSpPr txBox="1"/>
          <p:nvPr>
            <p:ph idx="1" type="subTitle"/>
          </p:nvPr>
        </p:nvSpPr>
        <p:spPr>
          <a:xfrm>
            <a:off x="257716" y="5891519"/>
            <a:ext cx="7044900" cy="16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4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"/>
          <p:cNvSpPr txBox="1"/>
          <p:nvPr>
            <p:ph type="title"/>
          </p:nvPr>
        </p:nvSpPr>
        <p:spPr>
          <a:xfrm>
            <a:off x="257716" y="4471142"/>
            <a:ext cx="7044900" cy="17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5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/>
          <p:nvPr>
            <p:ph type="title"/>
          </p:nvPr>
        </p:nvSpPr>
        <p:spPr>
          <a:xfrm>
            <a:off x="257716" y="925108"/>
            <a:ext cx="70449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6"/>
          <p:cNvSpPr txBox="1"/>
          <p:nvPr>
            <p:ph idx="1" type="body"/>
          </p:nvPr>
        </p:nvSpPr>
        <p:spPr>
          <a:xfrm>
            <a:off x="257716" y="2395741"/>
            <a:ext cx="70449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/>
          <p:nvPr>
            <p:ph type="title"/>
          </p:nvPr>
        </p:nvSpPr>
        <p:spPr>
          <a:xfrm>
            <a:off x="257716" y="925108"/>
            <a:ext cx="70449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" type="body"/>
          </p:nvPr>
        </p:nvSpPr>
        <p:spPr>
          <a:xfrm>
            <a:off x="257716" y="2395741"/>
            <a:ext cx="33069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7"/>
          <p:cNvSpPr txBox="1"/>
          <p:nvPr>
            <p:ph idx="2" type="body"/>
          </p:nvPr>
        </p:nvSpPr>
        <p:spPr>
          <a:xfrm>
            <a:off x="3995463" y="2395741"/>
            <a:ext cx="33069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7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/>
          <p:nvPr>
            <p:ph type="title"/>
          </p:nvPr>
        </p:nvSpPr>
        <p:spPr>
          <a:xfrm>
            <a:off x="257716" y="925108"/>
            <a:ext cx="70449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type="title"/>
          </p:nvPr>
        </p:nvSpPr>
        <p:spPr>
          <a:xfrm>
            <a:off x="257716" y="1154970"/>
            <a:ext cx="2321700" cy="15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9"/>
          <p:cNvSpPr txBox="1"/>
          <p:nvPr>
            <p:ph idx="1" type="body"/>
          </p:nvPr>
        </p:nvSpPr>
        <p:spPr>
          <a:xfrm>
            <a:off x="257716" y="2888671"/>
            <a:ext cx="2321700" cy="6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9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type="title"/>
          </p:nvPr>
        </p:nvSpPr>
        <p:spPr>
          <a:xfrm>
            <a:off x="405342" y="935763"/>
            <a:ext cx="5265000" cy="85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0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/>
          <p:nvPr/>
        </p:nvSpPr>
        <p:spPr>
          <a:xfrm>
            <a:off x="3780163" y="-260"/>
            <a:ext cx="3780300" cy="1069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1"/>
          <p:cNvSpPr txBox="1"/>
          <p:nvPr>
            <p:ph type="title"/>
          </p:nvPr>
        </p:nvSpPr>
        <p:spPr>
          <a:xfrm>
            <a:off x="219517" y="2563498"/>
            <a:ext cx="33444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1"/>
          <p:cNvSpPr txBox="1"/>
          <p:nvPr>
            <p:ph idx="1" type="subTitle"/>
          </p:nvPr>
        </p:nvSpPr>
        <p:spPr>
          <a:xfrm>
            <a:off x="219517" y="5826974"/>
            <a:ext cx="3344400" cy="25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4084015" y="1505192"/>
            <a:ext cx="3172200" cy="76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257716" y="8794431"/>
            <a:ext cx="49599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2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"/>
          <p:cNvSpPr txBox="1"/>
          <p:nvPr>
            <p:ph hasCustomPrompt="1" type="title"/>
          </p:nvPr>
        </p:nvSpPr>
        <p:spPr>
          <a:xfrm>
            <a:off x="257716" y="2299389"/>
            <a:ext cx="7044900" cy="408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3"/>
          <p:cNvSpPr txBox="1"/>
          <p:nvPr>
            <p:ph idx="1" type="body"/>
          </p:nvPr>
        </p:nvSpPr>
        <p:spPr>
          <a:xfrm>
            <a:off x="257716" y="6552780"/>
            <a:ext cx="7044900" cy="27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257716" y="925108"/>
            <a:ext cx="70449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257716" y="2395741"/>
            <a:ext cx="70449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hyperlink" Target="mailto:support@impactsolution.se" TargetMode="External"/><Relationship Id="rId9" Type="http://schemas.openxmlformats.org/officeDocument/2006/relationships/image" Target="../media/image5.png"/><Relationship Id="rId5" Type="http://schemas.openxmlformats.org/officeDocument/2006/relationships/hyperlink" Target="http://www.impactsolution.se/" TargetMode="External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7.png"/><Relationship Id="rId10" Type="http://schemas.openxmlformats.org/officeDocument/2006/relationships/image" Target="../media/image4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hyperlink" Target="http://de.nayax.com" TargetMode="External"/><Relationship Id="rId9" Type="http://schemas.openxmlformats.org/officeDocument/2006/relationships/image" Target="../media/image12.png"/><Relationship Id="rId5" Type="http://schemas.openxmlformats.org/officeDocument/2006/relationships/hyperlink" Target="mailto:support@impactsolution.se" TargetMode="External"/><Relationship Id="rId6" Type="http://schemas.openxmlformats.org/officeDocument/2006/relationships/hyperlink" Target="http://www.impactsolution.se/" TargetMode="External"/><Relationship Id="rId7" Type="http://schemas.openxmlformats.org/officeDocument/2006/relationships/image" Target="../media/image2.png"/><Relationship Id="rId8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6885818" y="2499428"/>
            <a:ext cx="2037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25" lIns="100075" spcFirstLastPara="1" rIns="100075" wrap="square" tIns="50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7053818" y="2663921"/>
            <a:ext cx="2037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25" lIns="100075" spcFirstLastPara="1" rIns="100075" wrap="square" tIns="50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"/>
          <p:cNvSpPr/>
          <p:nvPr/>
        </p:nvSpPr>
        <p:spPr>
          <a:xfrm flipH="1">
            <a:off x="3780000" y="3426923"/>
            <a:ext cx="3780000" cy="7265100"/>
          </a:xfrm>
          <a:prstGeom prst="rtTriangle">
            <a:avLst/>
          </a:prstGeom>
          <a:solidFill>
            <a:srgbClr val="5EBD84"/>
          </a:solidFill>
          <a:ln>
            <a:noFill/>
          </a:ln>
        </p:spPr>
        <p:txBody>
          <a:bodyPr anchorCtr="0" anchor="ctr" bIns="50025" lIns="100075" spcFirstLastPara="1" rIns="100075" wrap="square" tIns="50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9969" y="9727304"/>
            <a:ext cx="1885462" cy="6023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 txBox="1"/>
          <p:nvPr/>
        </p:nvSpPr>
        <p:spPr>
          <a:xfrm>
            <a:off x="397512" y="1247913"/>
            <a:ext cx="6765000" cy="13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25" lIns="100075" spcFirstLastPara="1" rIns="100075" wrap="square" tIns="50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sv" sz="3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Återköp i Nayax</a:t>
            </a:r>
            <a:endParaRPr b="1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sv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Det finns två sätt att göra återköp till kunder, antingen via MoMa-appen eller via Nayax Core på dator. O</a:t>
            </a:r>
            <a:r>
              <a:rPr b="1" lang="sv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 en kund debiterats men inte fått sin produkt bör du återbetala dem.</a:t>
            </a:r>
            <a:endParaRPr b="1" i="0" sz="3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474150" y="2557875"/>
            <a:ext cx="6142800" cy="21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25" lIns="100075" spcFirstLastPara="1" rIns="100075" wrap="square" tIns="50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sv" sz="1500" u="sng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Återköp via MoMa-appen</a:t>
            </a:r>
            <a:endParaRPr b="1" i="0" sz="1500" u="sng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AutoNum type="arabicPeriod"/>
            </a:pPr>
            <a:r>
              <a:rPr b="0" i="0" lang="sv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Sök upp automaten du vill göra återköp från. Klicka på den!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AutoNum type="arabicPeriod"/>
            </a:pPr>
            <a:r>
              <a:rPr b="0" i="0" lang="sv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Välj fliken </a:t>
            </a:r>
            <a:r>
              <a:rPr b="0" i="1" lang="sv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Last sales</a:t>
            </a:r>
            <a:endParaRPr b="0" i="1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AutoNum type="arabicPeriod"/>
            </a:pPr>
            <a:r>
              <a:rPr b="0" i="0" lang="sv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Klicka på köpet du vill göra återköp för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AutoNum type="arabicPeriod"/>
            </a:pPr>
            <a:r>
              <a:rPr b="0" i="0" lang="sv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Nu syns detaljerna om köpet. Välj </a:t>
            </a:r>
            <a:r>
              <a:rPr b="0" i="1" lang="sv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Request Refund</a:t>
            </a:r>
            <a:r>
              <a:rPr b="0" i="0" lang="sv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längst ner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AutoNum type="arabicPeriod"/>
            </a:pPr>
            <a:r>
              <a:rPr b="0" i="0" lang="sv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Beskriv varför du vill göra återköpet och vilken mejladress du vill ha bekräftelse till (din egen &amp; ev. kundens). Request!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sv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Kunden får nu återbetalning till sitt konto inom fyra bankdagar!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0" name="Google Shape;60;p1"/>
          <p:cNvCxnSpPr/>
          <p:nvPr/>
        </p:nvCxnSpPr>
        <p:spPr>
          <a:xfrm>
            <a:off x="746666" y="9412616"/>
            <a:ext cx="624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" name="Google Shape;61;p1"/>
          <p:cNvSpPr txBox="1"/>
          <p:nvPr/>
        </p:nvSpPr>
        <p:spPr>
          <a:xfrm>
            <a:off x="721714" y="9561630"/>
            <a:ext cx="2286300" cy="77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50025" lIns="100075" spcFirstLastPara="1" rIns="100075" wrap="square" tIns="50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sv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Impact Solution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sv" sz="11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support@impactsolution.se</a:t>
            </a:r>
            <a:endParaRPr b="0" i="1" sz="1100" u="none" cap="none" strike="noStrike">
              <a:solidFill>
                <a:srgbClr val="A8A9A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sv" sz="1100" u="sng" cap="none" strike="noStrike">
                <a:solidFill>
                  <a:srgbClr val="A8A9A3"/>
                </a:solidFill>
                <a:latin typeface="Inter"/>
                <a:ea typeface="Inter"/>
                <a:cs typeface="Inter"/>
                <a:sym typeface="Inter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impactsolution.se</a:t>
            </a:r>
            <a:endParaRPr b="0" i="0" sz="1100" u="none" cap="none" strike="noStrike">
              <a:solidFill>
                <a:srgbClr val="A8A9A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sv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010 - 20 71 510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14758" y="363643"/>
            <a:ext cx="725413" cy="725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88651" y="5239400"/>
            <a:ext cx="1828351" cy="3958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67329" y="5239387"/>
            <a:ext cx="1828351" cy="3958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4100" y="5239387"/>
            <a:ext cx="1828351" cy="3958236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"/>
          <p:cNvSpPr/>
          <p:nvPr/>
        </p:nvSpPr>
        <p:spPr>
          <a:xfrm>
            <a:off x="755125" y="5230088"/>
            <a:ext cx="1266300" cy="834900"/>
          </a:xfrm>
          <a:prstGeom prst="donut">
            <a:avLst>
              <a:gd fmla="val 7037" name="adj"/>
            </a:avLst>
          </a:prstGeom>
          <a:solidFill>
            <a:srgbClr val="5EBD8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"/>
          <p:cNvSpPr txBox="1"/>
          <p:nvPr/>
        </p:nvSpPr>
        <p:spPr>
          <a:xfrm>
            <a:off x="606525" y="4870088"/>
            <a:ext cx="196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sv" sz="1200" u="none" cap="none" strike="noStrike">
                <a:solidFill>
                  <a:schemeClr val="dk1"/>
                </a:solidFill>
                <a:highlight>
                  <a:srgbClr val="5EBD84"/>
                </a:highlight>
                <a:latin typeface="Inter"/>
                <a:ea typeface="Inter"/>
                <a:cs typeface="Inter"/>
                <a:sym typeface="Inter"/>
              </a:rPr>
              <a:t>1. Sök automat</a:t>
            </a:r>
            <a:endParaRPr b="1" i="0" sz="1200" u="none" cap="none" strike="noStrike">
              <a:solidFill>
                <a:srgbClr val="000000"/>
              </a:solidFill>
              <a:highlight>
                <a:srgbClr val="5EBD84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1081675" y="6613788"/>
            <a:ext cx="613200" cy="458100"/>
          </a:xfrm>
          <a:prstGeom prst="donut">
            <a:avLst>
              <a:gd fmla="val 7037" name="adj"/>
            </a:avLst>
          </a:prstGeom>
          <a:solidFill>
            <a:srgbClr val="5EBD8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"/>
          <p:cNvSpPr txBox="1"/>
          <p:nvPr/>
        </p:nvSpPr>
        <p:spPr>
          <a:xfrm>
            <a:off x="1455825" y="6419638"/>
            <a:ext cx="196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sv" sz="1200" u="none" cap="none" strike="noStrike">
                <a:solidFill>
                  <a:schemeClr val="dk1"/>
                </a:solidFill>
                <a:highlight>
                  <a:srgbClr val="5EBD84"/>
                </a:highlight>
                <a:latin typeface="Inter"/>
                <a:ea typeface="Inter"/>
                <a:cs typeface="Inter"/>
                <a:sym typeface="Inter"/>
              </a:rPr>
              <a:t>2. Last sales</a:t>
            </a:r>
            <a:endParaRPr b="1" i="0" sz="1200" u="none" cap="none" strike="noStrike">
              <a:solidFill>
                <a:srgbClr val="000000"/>
              </a:solidFill>
              <a:highlight>
                <a:srgbClr val="5EBD84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"/>
          <p:cNvSpPr/>
          <p:nvPr/>
        </p:nvSpPr>
        <p:spPr>
          <a:xfrm>
            <a:off x="721675" y="7192988"/>
            <a:ext cx="1547400" cy="458100"/>
          </a:xfrm>
          <a:prstGeom prst="donut">
            <a:avLst>
              <a:gd fmla="val 7037" name="adj"/>
            </a:avLst>
          </a:prstGeom>
          <a:solidFill>
            <a:srgbClr val="5EBD8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"/>
          <p:cNvSpPr txBox="1"/>
          <p:nvPr/>
        </p:nvSpPr>
        <p:spPr>
          <a:xfrm>
            <a:off x="965725" y="7573550"/>
            <a:ext cx="196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sv" sz="1200" u="none" cap="none" strike="noStrike">
                <a:solidFill>
                  <a:schemeClr val="dk1"/>
                </a:solidFill>
                <a:highlight>
                  <a:srgbClr val="5EBD84"/>
                </a:highlight>
                <a:latin typeface="Inter"/>
                <a:ea typeface="Inter"/>
                <a:cs typeface="Inter"/>
                <a:sym typeface="Inter"/>
              </a:rPr>
              <a:t>3. Hitta köpet</a:t>
            </a:r>
            <a:endParaRPr b="1" i="0" sz="1200" u="none" cap="none" strike="noStrike">
              <a:solidFill>
                <a:srgbClr val="000000"/>
              </a:solidFill>
              <a:highlight>
                <a:srgbClr val="5EBD84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"/>
          <p:cNvSpPr txBox="1"/>
          <p:nvPr/>
        </p:nvSpPr>
        <p:spPr>
          <a:xfrm>
            <a:off x="2799550" y="8718350"/>
            <a:ext cx="196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sv" sz="1200" u="none" cap="none" strike="noStrike">
                <a:solidFill>
                  <a:schemeClr val="dk1"/>
                </a:solidFill>
                <a:highlight>
                  <a:srgbClr val="5EBD84"/>
                </a:highlight>
                <a:latin typeface="Inter"/>
                <a:ea typeface="Inter"/>
                <a:cs typeface="Inter"/>
                <a:sym typeface="Inter"/>
              </a:rPr>
              <a:t>4.Begär återköp </a:t>
            </a:r>
            <a:endParaRPr b="1" i="0" sz="1200" u="none" cap="none" strike="noStrike">
              <a:solidFill>
                <a:srgbClr val="000000"/>
              </a:solidFill>
              <a:highlight>
                <a:srgbClr val="5EBD84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"/>
          <p:cNvSpPr/>
          <p:nvPr/>
        </p:nvSpPr>
        <p:spPr>
          <a:xfrm>
            <a:off x="2771850" y="8320663"/>
            <a:ext cx="1547400" cy="458100"/>
          </a:xfrm>
          <a:prstGeom prst="donut">
            <a:avLst>
              <a:gd fmla="val 7037" name="adj"/>
            </a:avLst>
          </a:prstGeom>
          <a:solidFill>
            <a:srgbClr val="5EBD8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"/>
          <p:cNvSpPr txBox="1"/>
          <p:nvPr/>
        </p:nvSpPr>
        <p:spPr>
          <a:xfrm>
            <a:off x="4934597" y="5593488"/>
            <a:ext cx="1547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sv" sz="1200" u="none" cap="none" strike="noStrike">
                <a:solidFill>
                  <a:schemeClr val="dk1"/>
                </a:solidFill>
                <a:highlight>
                  <a:srgbClr val="5EBD84"/>
                </a:highlight>
                <a:latin typeface="Inter"/>
                <a:ea typeface="Inter"/>
                <a:cs typeface="Inter"/>
                <a:sym typeface="Inter"/>
              </a:rPr>
              <a:t>5. Fyll i uppgifter om återköpet</a:t>
            </a:r>
            <a:endParaRPr b="1" i="0" sz="1200" u="none" cap="none" strike="noStrike">
              <a:solidFill>
                <a:srgbClr val="000000"/>
              </a:solidFill>
              <a:highlight>
                <a:srgbClr val="5EBD84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"/>
          <p:cNvSpPr txBox="1"/>
          <p:nvPr/>
        </p:nvSpPr>
        <p:spPr>
          <a:xfrm>
            <a:off x="6885818" y="2499428"/>
            <a:ext cx="2037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25" lIns="100075" spcFirstLastPara="1" rIns="100075" wrap="square" tIns="50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 txBox="1"/>
          <p:nvPr/>
        </p:nvSpPr>
        <p:spPr>
          <a:xfrm>
            <a:off x="7053818" y="2663921"/>
            <a:ext cx="2037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25" lIns="100075" spcFirstLastPara="1" rIns="100075" wrap="square" tIns="50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 flipH="1">
            <a:off x="3780000" y="3426923"/>
            <a:ext cx="3780000" cy="7265100"/>
          </a:xfrm>
          <a:prstGeom prst="rtTriangle">
            <a:avLst/>
          </a:prstGeom>
          <a:solidFill>
            <a:srgbClr val="5EBD84"/>
          </a:solidFill>
          <a:ln>
            <a:noFill/>
          </a:ln>
        </p:spPr>
        <p:txBody>
          <a:bodyPr anchorCtr="0" anchor="ctr" bIns="50025" lIns="100075" spcFirstLastPara="1" rIns="100075" wrap="square" tIns="50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9969" y="9727304"/>
            <a:ext cx="1885462" cy="6023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2"/>
          <p:cNvSpPr txBox="1"/>
          <p:nvPr/>
        </p:nvSpPr>
        <p:spPr>
          <a:xfrm>
            <a:off x="397512" y="1247913"/>
            <a:ext cx="6765000" cy="10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25" lIns="100075" spcFirstLastPara="1" rIns="100075" wrap="square" tIns="50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sv" sz="3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Återköp i Nayax</a:t>
            </a:r>
            <a:endParaRPr b="1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sv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Det finns två sätt att göra återköp till kunder, antingen via MoMa-appen eller via Nayax Core på dator</a:t>
            </a:r>
            <a:endParaRPr b="1" i="0" sz="3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474150" y="2557875"/>
            <a:ext cx="6241200" cy="6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25" lIns="100075" spcFirstLastPara="1" rIns="100075" wrap="square" tIns="50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sv" sz="1500" u="sng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Återköp via Nayax Core på dator</a:t>
            </a:r>
            <a:endParaRPr b="1" i="0" sz="1500" u="sng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Logga först in på Nayax Core via dator på </a:t>
            </a:r>
            <a:r>
              <a:rPr b="0" i="0" lang="sv" sz="13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de.nayax.com</a:t>
            </a:r>
            <a:endParaRPr b="0"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AutoNum type="arabicPeriod"/>
            </a:pPr>
            <a:r>
              <a:rPr b="0" i="0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Klicka på </a:t>
            </a:r>
            <a:r>
              <a:rPr b="0" i="1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Reports</a:t>
            </a:r>
            <a:r>
              <a:rPr b="0" i="0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-&gt; </a:t>
            </a:r>
            <a:r>
              <a:rPr b="0" i="1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Online Reports</a:t>
            </a:r>
            <a:r>
              <a:rPr b="0" i="0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-&gt; </a:t>
            </a:r>
            <a:r>
              <a:rPr b="0" i="1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Dynamic Transactions Monitor</a:t>
            </a:r>
            <a:br>
              <a:rPr b="0" i="1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b="0" i="1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b="0" i="1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br>
              <a:rPr b="0" i="1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b="0" i="1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b="0" i="1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b="0" i="1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b="0" i="1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AutoNum type="arabicPeriod"/>
            </a:pPr>
            <a:r>
              <a:rPr b="0" i="0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Fyll i så många uppgifter du kan om köpet - exempelvis tidpunkt, vilken automat det gäller (machine reference), sista 4 siffrorna av kortnumret, korttyp eller liknande. Klicka sen på gula knappen </a:t>
            </a:r>
            <a:r>
              <a:rPr b="0" i="1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View report</a:t>
            </a:r>
            <a:r>
              <a:rPr b="0" i="0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!</a:t>
            </a:r>
            <a:endParaRPr b="0"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br>
              <a:rPr b="0" i="0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b="0" i="0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b="0" i="0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b="0" i="0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b="0" i="0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b="0" i="0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b="0" i="0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b="0" i="0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b="0"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AutoNum type="arabicPeriod"/>
            </a:pPr>
            <a:r>
              <a:rPr b="0" i="0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Du får nu en lista på alla köp som matchar ditt sök.</a:t>
            </a:r>
            <a:br>
              <a:rPr b="0" i="0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Hitta rätt transaktion och scrolla längst till höger.</a:t>
            </a:r>
            <a:br>
              <a:rPr b="0" i="0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Klicka på </a:t>
            </a:r>
            <a:r>
              <a:rPr b="0" i="1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Pilen</a:t>
            </a:r>
            <a:r>
              <a:rPr b="0" i="0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och välj </a:t>
            </a:r>
            <a:r>
              <a:rPr b="0" i="1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Request Refund</a:t>
            </a:r>
            <a:endParaRPr b="0" i="1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1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AutoNum type="arabicPeriod"/>
            </a:pPr>
            <a:r>
              <a:rPr b="0" i="0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Beskriv varför du vill göra återköpet och</a:t>
            </a:r>
            <a:br>
              <a:rPr b="0" i="0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vilken mejladress du vill ha bekräftelse till</a:t>
            </a:r>
            <a:br>
              <a:rPr b="0" i="0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(din egen &amp; ev. kundens). </a:t>
            </a:r>
            <a:r>
              <a:rPr b="0" i="1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Request refund</a:t>
            </a:r>
            <a:r>
              <a:rPr b="0" i="0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!</a:t>
            </a:r>
            <a:br>
              <a:rPr b="0" i="0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b="0" i="0" lang="sv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sv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Kunden får återbetalning inom fyra bankdagar!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5" name="Google Shape;85;p2"/>
          <p:cNvCxnSpPr/>
          <p:nvPr/>
        </p:nvCxnSpPr>
        <p:spPr>
          <a:xfrm>
            <a:off x="746666" y="9412616"/>
            <a:ext cx="624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6" name="Google Shape;86;p2"/>
          <p:cNvSpPr txBox="1"/>
          <p:nvPr/>
        </p:nvSpPr>
        <p:spPr>
          <a:xfrm>
            <a:off x="721714" y="9561630"/>
            <a:ext cx="2286300" cy="77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50025" lIns="100075" spcFirstLastPara="1" rIns="100075" wrap="square" tIns="50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sv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Impact Solution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sv" sz="11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5"/>
              </a:rPr>
              <a:t>support@impactsolution.se</a:t>
            </a:r>
            <a:endParaRPr b="0" i="1" sz="1100" u="none" cap="none" strike="noStrike">
              <a:solidFill>
                <a:srgbClr val="A8A9A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sv" sz="1100" u="sng" cap="none" strike="noStrike">
                <a:solidFill>
                  <a:srgbClr val="A8A9A3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impactsolution.se</a:t>
            </a:r>
            <a:endParaRPr b="0" i="0" sz="1100" u="none" cap="none" strike="noStrike">
              <a:solidFill>
                <a:srgbClr val="A8A9A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sv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010 - 20 71 510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14758" y="363643"/>
            <a:ext cx="725413" cy="725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27885" y="3832400"/>
            <a:ext cx="3113073" cy="11537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" name="Google Shape;89;p2"/>
          <p:cNvGrpSpPr/>
          <p:nvPr/>
        </p:nvGrpSpPr>
        <p:grpSpPr>
          <a:xfrm>
            <a:off x="878412" y="3851686"/>
            <a:ext cx="1885451" cy="1115178"/>
            <a:chOff x="4565074" y="3480898"/>
            <a:chExt cx="1885451" cy="1115178"/>
          </a:xfrm>
        </p:grpSpPr>
        <p:pic>
          <p:nvPicPr>
            <p:cNvPr id="90" name="Google Shape;90;p2"/>
            <p:cNvPicPr preferRelativeResize="0"/>
            <p:nvPr/>
          </p:nvPicPr>
          <p:blipFill rotWithShape="1">
            <a:blip r:embed="rId9">
              <a:alphaModFix/>
            </a:blip>
            <a:srcRect b="34430" l="37355" r="0" t="0"/>
            <a:stretch/>
          </p:blipFill>
          <p:spPr>
            <a:xfrm>
              <a:off x="4565074" y="3480900"/>
              <a:ext cx="1885451" cy="11151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" name="Google Shape;91;p2"/>
            <p:cNvSpPr/>
            <p:nvPr/>
          </p:nvSpPr>
          <p:spPr>
            <a:xfrm>
              <a:off x="4774625" y="3480898"/>
              <a:ext cx="474300" cy="276300"/>
            </a:xfrm>
            <a:prstGeom prst="donut">
              <a:avLst>
                <a:gd fmla="val 7037" name="adj"/>
              </a:avLst>
            </a:prstGeom>
            <a:solidFill>
              <a:srgbClr val="5EBD8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5248925" y="4112788"/>
              <a:ext cx="914700" cy="276300"/>
            </a:xfrm>
            <a:prstGeom prst="donut">
              <a:avLst>
                <a:gd fmla="val 7037" name="adj"/>
              </a:avLst>
            </a:prstGeom>
            <a:solidFill>
              <a:srgbClr val="5EBD8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4748675" y="3837475"/>
              <a:ext cx="526200" cy="195000"/>
            </a:xfrm>
            <a:prstGeom prst="donut">
              <a:avLst>
                <a:gd fmla="val 7037" name="adj"/>
              </a:avLst>
            </a:prstGeom>
            <a:solidFill>
              <a:srgbClr val="5EBD8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" name="Google Shape;94;p2"/>
          <p:cNvSpPr txBox="1"/>
          <p:nvPr/>
        </p:nvSpPr>
        <p:spPr>
          <a:xfrm>
            <a:off x="1702338" y="3999825"/>
            <a:ext cx="201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sv" sz="1200" u="none" cap="none" strike="noStrike">
                <a:solidFill>
                  <a:schemeClr val="dk1"/>
                </a:solidFill>
                <a:highlight>
                  <a:srgbClr val="5EBD84"/>
                </a:highlight>
                <a:latin typeface="Inter"/>
                <a:ea typeface="Inter"/>
                <a:cs typeface="Inter"/>
                <a:sym typeface="Inter"/>
              </a:rPr>
              <a:t>1. Välj Dynamic Transactions Monitor</a:t>
            </a:r>
            <a:endParaRPr b="1" i="0" sz="1200" u="none" cap="none" strike="noStrike">
              <a:solidFill>
                <a:srgbClr val="000000"/>
              </a:solidFill>
              <a:highlight>
                <a:srgbClr val="5EBD84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3607338" y="4597575"/>
            <a:ext cx="201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sv" sz="1200" u="none" cap="none" strike="noStrike">
                <a:solidFill>
                  <a:schemeClr val="dk1"/>
                </a:solidFill>
                <a:highlight>
                  <a:srgbClr val="5EBD84"/>
                </a:highlight>
                <a:latin typeface="Inter"/>
                <a:ea typeface="Inter"/>
                <a:cs typeface="Inter"/>
                <a:sym typeface="Inter"/>
              </a:rPr>
              <a:t>2. Sök efter rätt köp</a:t>
            </a:r>
            <a:endParaRPr b="1" i="0" sz="1200" u="none" cap="none" strike="noStrike">
              <a:solidFill>
                <a:srgbClr val="000000"/>
              </a:solidFill>
              <a:highlight>
                <a:srgbClr val="5EBD84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5898788" y="4311374"/>
            <a:ext cx="405600" cy="286200"/>
          </a:xfrm>
          <a:prstGeom prst="donut">
            <a:avLst>
              <a:gd fmla="val 7037" name="adj"/>
            </a:avLst>
          </a:prstGeom>
          <a:solidFill>
            <a:srgbClr val="5EBD8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2"/>
          <p:cNvPicPr preferRelativeResize="0"/>
          <p:nvPr/>
        </p:nvPicPr>
        <p:blipFill rotWithShape="1">
          <a:blip r:embed="rId10">
            <a:alphaModFix/>
          </a:blip>
          <a:srcRect b="0" l="33096" r="0" t="0"/>
          <a:stretch/>
        </p:blipFill>
        <p:spPr>
          <a:xfrm>
            <a:off x="721725" y="5872900"/>
            <a:ext cx="2709350" cy="1283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558375" y="5872900"/>
            <a:ext cx="1800000" cy="156530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/>
          <p:nvPr/>
        </p:nvSpPr>
        <p:spPr>
          <a:xfrm>
            <a:off x="5358375" y="7226825"/>
            <a:ext cx="20154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sv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Tips!</a:t>
            </a:r>
            <a:br>
              <a:rPr b="1" i="0" lang="sv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sv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Fråga kunden om så detaljerade uppgifter som möjligt för att lättare hitta deras transaktion!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Char char="●"/>
            </a:pPr>
            <a:r>
              <a:rPr b="1" i="0" lang="sv" sz="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Tidpunkt</a:t>
            </a:r>
            <a:r>
              <a:rPr b="0" i="0" lang="sv" sz="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(ex: “lunchtid igår”)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Char char="●"/>
            </a:pPr>
            <a:r>
              <a:rPr b="1" i="0" lang="sv" sz="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Automat</a:t>
            </a:r>
            <a:r>
              <a:rPr b="0" i="0" lang="sv" sz="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(“i lunchrummet på Postnord”)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Char char="●"/>
            </a:pPr>
            <a:r>
              <a:rPr b="1" i="0" lang="sv" sz="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Produkt</a:t>
            </a:r>
            <a:r>
              <a:rPr b="0" i="0" lang="sv" sz="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(“kexchoklad”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Char char="●"/>
            </a:pPr>
            <a:r>
              <a:rPr b="1" i="0" lang="sv" sz="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Plats</a:t>
            </a:r>
            <a:r>
              <a:rPr b="0" i="0" lang="sv" sz="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(“högst upp till vänster i automaten”)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Char char="●"/>
            </a:pPr>
            <a:r>
              <a:rPr b="1" i="0" lang="sv" sz="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Korttyp</a:t>
            </a:r>
            <a:r>
              <a:rPr b="0" i="0" lang="sv" sz="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(Mastercard/Visa)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Char char="●"/>
            </a:pPr>
            <a:r>
              <a:rPr b="0" i="0" lang="sv" sz="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Sista 4 i </a:t>
            </a:r>
            <a:r>
              <a:rPr b="1" i="0" lang="sv" sz="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kortnumret</a:t>
            </a:r>
            <a:endParaRPr b="1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545738" y="6584775"/>
            <a:ext cx="201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sv" sz="1200" u="none" cap="none" strike="noStrike">
                <a:solidFill>
                  <a:schemeClr val="dk1"/>
                </a:solidFill>
                <a:highlight>
                  <a:srgbClr val="5EBD84"/>
                </a:highlight>
                <a:latin typeface="Inter"/>
                <a:ea typeface="Inter"/>
                <a:cs typeface="Inter"/>
                <a:sym typeface="Inter"/>
              </a:rPr>
              <a:t>3. Hitta rätt transaktion</a:t>
            </a:r>
            <a:endParaRPr b="1" i="0" sz="1200" u="none" cap="none" strike="noStrike">
              <a:solidFill>
                <a:srgbClr val="000000"/>
              </a:solidFill>
              <a:highlight>
                <a:srgbClr val="5EBD84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3127871" y="6146525"/>
            <a:ext cx="263700" cy="286200"/>
          </a:xfrm>
          <a:prstGeom prst="donut">
            <a:avLst>
              <a:gd fmla="val 7037" name="adj"/>
            </a:avLst>
          </a:prstGeom>
          <a:solidFill>
            <a:srgbClr val="5EBD8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2763875" y="6984975"/>
            <a:ext cx="567900" cy="240900"/>
          </a:xfrm>
          <a:prstGeom prst="donut">
            <a:avLst>
              <a:gd fmla="val 7037" name="adj"/>
            </a:avLst>
          </a:prstGeom>
          <a:solidFill>
            <a:srgbClr val="5EBD8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4899800" y="7260800"/>
            <a:ext cx="567900" cy="240900"/>
          </a:xfrm>
          <a:prstGeom prst="donut">
            <a:avLst>
              <a:gd fmla="val 7037" name="adj"/>
            </a:avLst>
          </a:prstGeom>
          <a:solidFill>
            <a:srgbClr val="5EBD8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4365825" y="6432725"/>
            <a:ext cx="992700" cy="554100"/>
          </a:xfrm>
          <a:prstGeom prst="donut">
            <a:avLst>
              <a:gd fmla="val 7037" name="adj"/>
            </a:avLst>
          </a:prstGeom>
          <a:solidFill>
            <a:srgbClr val="5EBD8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3780000" y="5938813"/>
            <a:ext cx="247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sv" sz="1200" u="none" cap="none" strike="noStrike">
                <a:solidFill>
                  <a:schemeClr val="dk1"/>
                </a:solidFill>
                <a:highlight>
                  <a:srgbClr val="5EBD84"/>
                </a:highlight>
                <a:latin typeface="Inter"/>
                <a:ea typeface="Inter"/>
                <a:cs typeface="Inter"/>
                <a:sym typeface="Inter"/>
              </a:rPr>
              <a:t>4. Fyll i uppgifter om återköpet</a:t>
            </a:r>
            <a:endParaRPr b="1" i="0" sz="1200" u="none" cap="none" strike="noStrike">
              <a:solidFill>
                <a:srgbClr val="000000"/>
              </a:solidFill>
              <a:highlight>
                <a:srgbClr val="5EBD84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082125" y="6721150"/>
            <a:ext cx="567900" cy="56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