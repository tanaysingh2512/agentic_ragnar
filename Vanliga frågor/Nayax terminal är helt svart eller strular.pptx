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10692000" cx="7560000"/>
  <p:notesSz cx="6858000" cy="9144000"/>
  <p:embeddedFontLst>
    <p:embeddedFont>
      <p:font typeface="Inter"/>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747775"/>
          </p15:clr>
        </p15:guide>
        <p15:guide id="2" pos="1226">
          <p15:clr>
            <a:srgbClr val="747775"/>
          </p15:clr>
        </p15:guide>
        <p15:guide id="3" pos="3515">
          <p15:clr>
            <a:srgbClr val="747775"/>
          </p15:clr>
        </p15:guide>
        <p15:guide id="4" orient="horz" pos="652">
          <p15:clr>
            <a:srgbClr val="747775"/>
          </p15:clr>
        </p15:guide>
        <p15:guide id="5" orient="horz" pos="2010">
          <p15:clr>
            <a:srgbClr val="747775"/>
          </p15:clr>
        </p15:guide>
        <p15:guide id="6" orient="horz" pos="4725">
          <p15:clr>
            <a:srgbClr val="747775"/>
          </p15:clr>
        </p15:guide>
        <p15:guide id="7" orient="horz" pos="6083">
          <p15:clr>
            <a:srgbClr val="747775"/>
          </p15:clr>
        </p15:guide>
      </p15:sldGuideLst>
    </p:ext>
    <p:ext uri="GoogleSlidesCustomDataVersion2">
      <go:slidesCustomData xmlns:go="http://customooxmlschemas.google.com/" r:id="rId11" roundtripDataSignature="AMtx7mirRiTVuL83YvBEhxf1UbHWFiHh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1226"/>
        <p:guide pos="3515"/>
        <p:guide pos="652" orient="horz"/>
        <p:guide pos="2010" orient="horz"/>
        <p:guide pos="4725" orient="horz"/>
        <p:guide pos="6083" orient="horz"/>
      </p:guideLst>
    </p:cSldViewPr>
  </p:slideViewPr>
</p:viewPr>
</file>

<file path=ppt/_rels/presentation.xml.rels><?xml version="1.0" encoding="UTF-8" standalone="yes"?><Relationships xmlns="http://schemas.openxmlformats.org/package/2006/relationships"><Relationship Id="rId11" Type="http://customschemas.google.com/relationships/presentationmetadata" Target="metadata"/><Relationship Id="rId10" Type="http://schemas.openxmlformats.org/officeDocument/2006/relationships/font" Target="fonts/Inter-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Inter-regular.fntdata"/><Relationship Id="rId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p1:notes"/>
          <p:cNvSpPr/>
          <p:nvPr>
            <p:ph idx="2" type="sldImg"/>
          </p:nvPr>
        </p:nvSpPr>
        <p:spPr>
          <a:xfrm>
            <a:off x="2337829" y="1143000"/>
            <a:ext cx="21825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
          <p:cNvSpPr txBox="1"/>
          <p:nvPr>
            <p:ph type="ctrTitle"/>
          </p:nvPr>
        </p:nvSpPr>
        <p:spPr>
          <a:xfrm>
            <a:off x="257723" y="1547807"/>
            <a:ext cx="7044900" cy="426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
          <p:cNvSpPr txBox="1"/>
          <p:nvPr>
            <p:ph idx="1" type="subTitle"/>
          </p:nvPr>
        </p:nvSpPr>
        <p:spPr>
          <a:xfrm>
            <a:off x="257716" y="5891519"/>
            <a:ext cx="7044900" cy="1647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4"/>
          <p:cNvSpPr txBox="1"/>
          <p:nvPr>
            <p:ph type="title"/>
          </p:nvPr>
        </p:nvSpPr>
        <p:spPr>
          <a:xfrm>
            <a:off x="257716" y="4471142"/>
            <a:ext cx="7044900" cy="1749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4"/>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5"/>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5"/>
          <p:cNvSpPr txBox="1"/>
          <p:nvPr>
            <p:ph idx="1" type="body"/>
          </p:nvPr>
        </p:nvSpPr>
        <p:spPr>
          <a:xfrm>
            <a:off x="257716" y="2395741"/>
            <a:ext cx="7044900" cy="7101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5"/>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257716" y="2395741"/>
            <a:ext cx="3306900" cy="7101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3995463" y="2395741"/>
            <a:ext cx="3306900" cy="7101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257716" y="1154970"/>
            <a:ext cx="2321700" cy="1570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257716" y="2888671"/>
            <a:ext cx="2321700" cy="66090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05342" y="935763"/>
            <a:ext cx="5265000" cy="8504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3780163" y="-260"/>
            <a:ext cx="3780300" cy="10692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19517" y="2563498"/>
            <a:ext cx="3344400" cy="3081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19517" y="5826974"/>
            <a:ext cx="3344400" cy="2567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084015" y="1505192"/>
            <a:ext cx="3172200" cy="76812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257716" y="8794431"/>
            <a:ext cx="4959900" cy="12579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257716" y="2299389"/>
            <a:ext cx="7044900" cy="4081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257716" y="6552780"/>
            <a:ext cx="7044900" cy="2703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257716" y="2395741"/>
            <a:ext cx="7044900" cy="7101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mailto:support@impactsolution.se" TargetMode="External"/><Relationship Id="rId5" Type="http://schemas.openxmlformats.org/officeDocument/2006/relationships/hyperlink" Target="http://www.impactsolution.se/" TargetMode="External"/><Relationship Id="rId6" Type="http://schemas.openxmlformats.org/officeDocument/2006/relationships/image" Target="../media/image3.png"/><Relationship Id="rId7" Type="http://schemas.openxmlformats.org/officeDocument/2006/relationships/hyperlink" Target="mailto:support@impactsolution.s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
          <p:cNvSpPr txBox="1"/>
          <p:nvPr/>
        </p:nvSpPr>
        <p:spPr>
          <a:xfrm>
            <a:off x="6885818" y="2817153"/>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55" name="Google Shape;55;p1"/>
          <p:cNvSpPr txBox="1"/>
          <p:nvPr/>
        </p:nvSpPr>
        <p:spPr>
          <a:xfrm>
            <a:off x="7053818" y="2981646"/>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56" name="Google Shape;56;p1"/>
          <p:cNvSpPr/>
          <p:nvPr/>
        </p:nvSpPr>
        <p:spPr>
          <a:xfrm flipH="1">
            <a:off x="3780000" y="3426898"/>
            <a:ext cx="3780000" cy="7265100"/>
          </a:xfrm>
          <a:prstGeom prst="rtTriangle">
            <a:avLst/>
          </a:prstGeom>
          <a:solidFill>
            <a:srgbClr val="5EBD84"/>
          </a:solidFill>
          <a:ln>
            <a:noFill/>
          </a:ln>
        </p:spPr>
        <p:txBody>
          <a:bodyPr anchorCtr="0" anchor="ctr" bIns="50025" lIns="100075" spcFirstLastPara="1" rIns="100075" wrap="square" tIns="5002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pic>
        <p:nvPicPr>
          <p:cNvPr id="57" name="Google Shape;57;p1"/>
          <p:cNvPicPr preferRelativeResize="0"/>
          <p:nvPr/>
        </p:nvPicPr>
        <p:blipFill rotWithShape="1">
          <a:blip r:embed="rId3">
            <a:alphaModFix/>
          </a:blip>
          <a:srcRect b="0" l="0" r="0" t="0"/>
          <a:stretch/>
        </p:blipFill>
        <p:spPr>
          <a:xfrm>
            <a:off x="5229969" y="9727304"/>
            <a:ext cx="1885462" cy="602300"/>
          </a:xfrm>
          <a:prstGeom prst="rect">
            <a:avLst/>
          </a:prstGeom>
          <a:noFill/>
          <a:ln>
            <a:noFill/>
          </a:ln>
        </p:spPr>
      </p:pic>
      <p:sp>
        <p:nvSpPr>
          <p:cNvPr id="58" name="Google Shape;58;p1"/>
          <p:cNvSpPr txBox="1"/>
          <p:nvPr/>
        </p:nvSpPr>
        <p:spPr>
          <a:xfrm>
            <a:off x="397512" y="884488"/>
            <a:ext cx="6765000" cy="20406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chemeClr val="dk1"/>
              </a:buClr>
              <a:buSzPts val="1200"/>
              <a:buFont typeface="Arial"/>
              <a:buNone/>
            </a:pPr>
            <a:r>
              <a:rPr b="1" lang="sv" sz="3300">
                <a:solidFill>
                  <a:schemeClr val="dk1"/>
                </a:solidFill>
                <a:latin typeface="Inter"/>
                <a:ea typeface="Inter"/>
                <a:cs typeface="Inter"/>
                <a:sym typeface="Inter"/>
              </a:rPr>
              <a:t>Nayaxterminal svart eller problematiskt</a:t>
            </a:r>
            <a:endParaRPr b="1"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200"/>
              <a:buFont typeface="Arial"/>
              <a:buNone/>
            </a:pPr>
            <a:r>
              <a:rPr b="1" i="0" lang="sv" sz="1500" u="none" cap="none" strike="noStrike">
                <a:solidFill>
                  <a:schemeClr val="dk1"/>
                </a:solidFill>
                <a:latin typeface="Inter"/>
                <a:ea typeface="Inter"/>
                <a:cs typeface="Inter"/>
                <a:sym typeface="Inter"/>
              </a:rPr>
              <a:t>Om </a:t>
            </a:r>
            <a:r>
              <a:rPr b="1" lang="sv" sz="1500">
                <a:solidFill>
                  <a:schemeClr val="dk1"/>
                </a:solidFill>
                <a:latin typeface="Inter"/>
                <a:ea typeface="Inter"/>
                <a:cs typeface="Inter"/>
                <a:sym typeface="Inter"/>
              </a:rPr>
              <a:t>din nayaxterminal (kortterminalen) inte fungerar som den ska, antingen att den är helt svart, visar felmeddelanden, inte tillåter köp eller helt enkelt bara strular så att köp inte går igenom, då behöver du följa följande steg.</a:t>
            </a:r>
            <a:endParaRPr b="1" i="0" sz="3300" u="none" cap="none" strike="noStrike">
              <a:solidFill>
                <a:schemeClr val="dk1"/>
              </a:solidFill>
              <a:latin typeface="Inter"/>
              <a:ea typeface="Inter"/>
              <a:cs typeface="Inter"/>
              <a:sym typeface="Inter"/>
            </a:endParaRPr>
          </a:p>
        </p:txBody>
      </p:sp>
      <p:sp>
        <p:nvSpPr>
          <p:cNvPr id="59" name="Google Shape;59;p1"/>
          <p:cNvSpPr txBox="1"/>
          <p:nvPr/>
        </p:nvSpPr>
        <p:spPr>
          <a:xfrm>
            <a:off x="549675" y="5908100"/>
            <a:ext cx="3780000" cy="331800"/>
          </a:xfrm>
          <a:prstGeom prst="rect">
            <a:avLst/>
          </a:prstGeom>
          <a:noFill/>
          <a:ln>
            <a:noFill/>
          </a:ln>
        </p:spPr>
        <p:txBody>
          <a:bodyPr anchorCtr="0" anchor="t" bIns="50025" lIns="100075" spcFirstLastPara="1" rIns="100075" wrap="square" tIns="50025">
            <a:spAutoFit/>
          </a:bodyPr>
          <a:lstStyle/>
          <a:p>
            <a:pPr indent="0" lvl="0" marL="457200" marR="0" rtl="0" algn="l">
              <a:lnSpc>
                <a:spcPct val="100000"/>
              </a:lnSpc>
              <a:spcBef>
                <a:spcPts val="0"/>
              </a:spcBef>
              <a:spcAft>
                <a:spcPts val="0"/>
              </a:spcAft>
              <a:buNone/>
            </a:pPr>
            <a:r>
              <a:t/>
            </a:r>
            <a:endParaRPr b="0" i="0" sz="1500" u="none" cap="none" strike="noStrike">
              <a:solidFill>
                <a:schemeClr val="dk1"/>
              </a:solidFill>
              <a:latin typeface="Inter"/>
              <a:ea typeface="Inter"/>
              <a:cs typeface="Inter"/>
              <a:sym typeface="Inter"/>
            </a:endParaRPr>
          </a:p>
        </p:txBody>
      </p:sp>
      <p:cxnSp>
        <p:nvCxnSpPr>
          <p:cNvPr id="60" name="Google Shape;60;p1"/>
          <p:cNvCxnSpPr/>
          <p:nvPr/>
        </p:nvCxnSpPr>
        <p:spPr>
          <a:xfrm>
            <a:off x="746666" y="9412616"/>
            <a:ext cx="6241200" cy="0"/>
          </a:xfrm>
          <a:prstGeom prst="straightConnector1">
            <a:avLst/>
          </a:prstGeom>
          <a:noFill/>
          <a:ln cap="flat" cmpd="sng" w="9525">
            <a:solidFill>
              <a:schemeClr val="dk1"/>
            </a:solidFill>
            <a:prstDash val="solid"/>
            <a:miter lim="800000"/>
            <a:headEnd len="sm" w="sm" type="none"/>
            <a:tailEnd len="sm" w="sm" type="none"/>
          </a:ln>
        </p:spPr>
      </p:cxnSp>
      <p:sp>
        <p:nvSpPr>
          <p:cNvPr id="61" name="Google Shape;61;p1"/>
          <p:cNvSpPr txBox="1"/>
          <p:nvPr/>
        </p:nvSpPr>
        <p:spPr>
          <a:xfrm>
            <a:off x="721725" y="9561623"/>
            <a:ext cx="2286300" cy="947700"/>
          </a:xfrm>
          <a:prstGeom prst="rect">
            <a:avLst/>
          </a:prstGeom>
          <a:solidFill>
            <a:schemeClr val="lt1"/>
          </a:solid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dk1"/>
                </a:solidFill>
                <a:latin typeface="Inter"/>
                <a:ea typeface="Inter"/>
                <a:cs typeface="Inter"/>
                <a:sym typeface="Inter"/>
              </a:rPr>
              <a:t>Impact Solution</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1" lang="sv" sz="1100" u="sng" cap="none" strike="noStrike">
                <a:solidFill>
                  <a:schemeClr val="hlink"/>
                </a:solidFill>
                <a:latin typeface="Inter"/>
                <a:ea typeface="Inter"/>
                <a:cs typeface="Inter"/>
                <a:sym typeface="Inter"/>
                <a:hlinkClick r:id="rId4"/>
              </a:rPr>
              <a:t>support@impactsolution.se</a:t>
            </a:r>
            <a:endParaRPr b="0" i="1"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sng" cap="none" strike="noStrike">
                <a:solidFill>
                  <a:srgbClr val="A8A9A3"/>
                </a:solidFill>
                <a:latin typeface="Inter"/>
                <a:ea typeface="Inter"/>
                <a:cs typeface="Inter"/>
                <a:sym typeface="Inter"/>
                <a:hlinkClick r:id="rId5">
                  <a:extLst>
                    <a:ext uri="{A12FA001-AC4F-418D-AE19-62706E023703}">
                      <ahyp:hlinkClr val="tx"/>
                    </a:ext>
                  </a:extLst>
                </a:hlinkClick>
              </a:rPr>
              <a:t>impactsolution.se</a:t>
            </a:r>
            <a:endParaRPr b="0" i="0"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010 - 20 71 510</a:t>
            </a:r>
            <a:endParaRPr b="0"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CC0000"/>
              </a:solidFill>
              <a:latin typeface="Inter"/>
              <a:ea typeface="Inter"/>
              <a:cs typeface="Inter"/>
              <a:sym typeface="Inter"/>
            </a:endParaRPr>
          </a:p>
        </p:txBody>
      </p:sp>
      <p:pic>
        <p:nvPicPr>
          <p:cNvPr id="62" name="Google Shape;62;p1"/>
          <p:cNvPicPr preferRelativeResize="0"/>
          <p:nvPr/>
        </p:nvPicPr>
        <p:blipFill rotWithShape="1">
          <a:blip r:embed="rId6">
            <a:alphaModFix/>
          </a:blip>
          <a:srcRect b="0" l="0" r="0" t="0"/>
          <a:stretch/>
        </p:blipFill>
        <p:spPr>
          <a:xfrm>
            <a:off x="6414758" y="681368"/>
            <a:ext cx="725413" cy="725413"/>
          </a:xfrm>
          <a:prstGeom prst="rect">
            <a:avLst/>
          </a:prstGeom>
          <a:noFill/>
          <a:ln>
            <a:noFill/>
          </a:ln>
        </p:spPr>
      </p:pic>
      <p:sp>
        <p:nvSpPr>
          <p:cNvPr id="63" name="Google Shape;63;p1"/>
          <p:cNvSpPr txBox="1"/>
          <p:nvPr/>
        </p:nvSpPr>
        <p:spPr>
          <a:xfrm>
            <a:off x="446175" y="3273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Version. 1.0 2024-06-05</a:t>
            </a:r>
            <a:endParaRPr b="0" i="0" sz="1400" u="none" cap="none" strike="noStrike">
              <a:solidFill>
                <a:schemeClr val="dk1"/>
              </a:solidFill>
              <a:latin typeface="Arial"/>
              <a:ea typeface="Arial"/>
              <a:cs typeface="Arial"/>
              <a:sym typeface="Arial"/>
            </a:endParaRPr>
          </a:p>
        </p:txBody>
      </p:sp>
      <p:sp>
        <p:nvSpPr>
          <p:cNvPr id="64" name="Google Shape;64;p1"/>
          <p:cNvSpPr txBox="1"/>
          <p:nvPr/>
        </p:nvSpPr>
        <p:spPr>
          <a:xfrm>
            <a:off x="549675" y="2336575"/>
            <a:ext cx="5133900" cy="65658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500"/>
              <a:buFont typeface="Arial"/>
              <a:buNone/>
            </a:pPr>
            <a:br>
              <a:rPr b="1" i="0" lang="sv" sz="1500" u="sng" cap="none" strike="noStrike">
                <a:solidFill>
                  <a:schemeClr val="dk1"/>
                </a:solidFill>
                <a:latin typeface="Inter"/>
                <a:ea typeface="Inter"/>
                <a:cs typeface="Inter"/>
                <a:sym typeface="Inter"/>
              </a:rPr>
            </a:br>
            <a:endParaRPr b="1" i="0" sz="1500" u="sng" cap="none" strike="noStrike">
              <a:solidFill>
                <a:schemeClr val="dk1"/>
              </a:solidFill>
              <a:latin typeface="Inter"/>
              <a:ea typeface="Inter"/>
              <a:cs typeface="Inter"/>
              <a:sym typeface="Inter"/>
            </a:endParaRPr>
          </a:p>
          <a:p>
            <a:pPr indent="0" lvl="0" marL="457200" marR="0" rtl="0" algn="l">
              <a:lnSpc>
                <a:spcPct val="100000"/>
              </a:lnSpc>
              <a:spcBef>
                <a:spcPts val="0"/>
              </a:spcBef>
              <a:spcAft>
                <a:spcPts val="0"/>
              </a:spcAft>
              <a:buNone/>
            </a:pPr>
            <a:r>
              <a:t/>
            </a:r>
            <a:endParaRPr sz="1500">
              <a:solidFill>
                <a:schemeClr val="dk1"/>
              </a:solidFill>
              <a:latin typeface="Inter"/>
              <a:ea typeface="Inter"/>
              <a:cs typeface="Inter"/>
              <a:sym typeface="Inter"/>
            </a:endParaRPr>
          </a:p>
          <a:p>
            <a:pPr indent="0" lvl="0" marL="457200" marR="0" rtl="0" algn="l">
              <a:lnSpc>
                <a:spcPct val="100000"/>
              </a:lnSpc>
              <a:spcBef>
                <a:spcPts val="0"/>
              </a:spcBef>
              <a:spcAft>
                <a:spcPts val="0"/>
              </a:spcAft>
              <a:buNone/>
            </a:pPr>
            <a:r>
              <a:t/>
            </a:r>
            <a:endParaRPr sz="1500">
              <a:solidFill>
                <a:schemeClr val="dk1"/>
              </a:solidFill>
              <a:latin typeface="Inter"/>
              <a:ea typeface="Inter"/>
              <a:cs typeface="Inter"/>
              <a:sym typeface="Inter"/>
            </a:endParaRPr>
          </a:p>
          <a:p>
            <a:pPr indent="0" lvl="0" marL="457200" marR="0" rtl="0" algn="l">
              <a:lnSpc>
                <a:spcPct val="100000"/>
              </a:lnSpc>
              <a:spcBef>
                <a:spcPts val="0"/>
              </a:spcBef>
              <a:spcAft>
                <a:spcPts val="0"/>
              </a:spcAft>
              <a:buNone/>
            </a:pPr>
            <a:r>
              <a:rPr lang="sv" sz="1500">
                <a:solidFill>
                  <a:schemeClr val="dk1"/>
                </a:solidFill>
                <a:latin typeface="Inter"/>
                <a:ea typeface="Inter"/>
                <a:cs typeface="Inter"/>
                <a:sym typeface="Inter"/>
              </a:rPr>
              <a:t>Om din Nayax-terminal är helt svart bör du först prova att starta om maskinen. Om din kortterminal fortfarande är svart eller inte fungerar efter en omstart kan vi behöva skicka ut en ny terminal. Skapa ett supportärende till </a:t>
            </a:r>
            <a:r>
              <a:rPr lang="sv" sz="1500" u="sng">
                <a:solidFill>
                  <a:schemeClr val="hlink"/>
                </a:solidFill>
                <a:latin typeface="Inter"/>
                <a:ea typeface="Inter"/>
                <a:cs typeface="Inter"/>
                <a:sym typeface="Inter"/>
                <a:hlinkClick r:id="rId7"/>
              </a:rPr>
              <a:t>support@impactsolution.se</a:t>
            </a:r>
            <a:r>
              <a:rPr lang="sv" sz="1500">
                <a:solidFill>
                  <a:schemeClr val="dk1"/>
                </a:solidFill>
                <a:latin typeface="Inter"/>
                <a:ea typeface="Inter"/>
                <a:cs typeface="Inter"/>
                <a:sym typeface="Inter"/>
              </a:rPr>
              <a:t> så kommer vi fram till hur ni ska få er nya terminal.</a:t>
            </a:r>
            <a:endParaRPr sz="1500">
              <a:solidFill>
                <a:schemeClr val="dk1"/>
              </a:solidFill>
              <a:latin typeface="Inter"/>
              <a:ea typeface="Inter"/>
              <a:cs typeface="Inter"/>
              <a:sym typeface="Inter"/>
            </a:endParaRPr>
          </a:p>
          <a:p>
            <a:pPr indent="0" lvl="0" marL="457200" marR="0" rtl="0" algn="l">
              <a:lnSpc>
                <a:spcPct val="100000"/>
              </a:lnSpc>
              <a:spcBef>
                <a:spcPts val="0"/>
              </a:spcBef>
              <a:spcAft>
                <a:spcPts val="0"/>
              </a:spcAft>
              <a:buNone/>
            </a:pPr>
            <a:r>
              <a:t/>
            </a:r>
            <a:endParaRPr sz="1500">
              <a:solidFill>
                <a:schemeClr val="dk1"/>
              </a:solidFill>
              <a:latin typeface="Inter"/>
              <a:ea typeface="Inter"/>
              <a:cs typeface="Inter"/>
              <a:sym typeface="Inter"/>
            </a:endParaRPr>
          </a:p>
          <a:p>
            <a:pPr indent="0" lvl="0" marL="457200" marR="0" rtl="0" algn="l">
              <a:lnSpc>
                <a:spcPct val="100000"/>
              </a:lnSpc>
              <a:spcBef>
                <a:spcPts val="0"/>
              </a:spcBef>
              <a:spcAft>
                <a:spcPts val="0"/>
              </a:spcAft>
              <a:buNone/>
            </a:pPr>
            <a:r>
              <a:rPr lang="sv" sz="1500">
                <a:solidFill>
                  <a:schemeClr val="dk1"/>
                </a:solidFill>
                <a:latin typeface="Inter"/>
                <a:ea typeface="Inter"/>
                <a:cs typeface="Inter"/>
                <a:sym typeface="Inter"/>
              </a:rPr>
              <a:t>Om er Nayaxterminal strular, har problem med uppkopplingen eller att köp inte går igenom kan detta ha att göra med signalstyrkan. </a:t>
            </a:r>
            <a:endParaRPr sz="1500">
              <a:solidFill>
                <a:schemeClr val="dk1"/>
              </a:solidFill>
              <a:latin typeface="Inter"/>
              <a:ea typeface="Inter"/>
              <a:cs typeface="Inter"/>
              <a:sym typeface="Inter"/>
            </a:endParaRPr>
          </a:p>
          <a:p>
            <a:pPr indent="-323850" lvl="0" marL="457200" marR="0" rtl="0" algn="l">
              <a:lnSpc>
                <a:spcPct val="100000"/>
              </a:lnSpc>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Testa att trycka på de tre-strecken, sen längst upp till vänster.</a:t>
            </a:r>
            <a:endParaRPr sz="1500">
              <a:solidFill>
                <a:schemeClr val="dk1"/>
              </a:solidFill>
              <a:latin typeface="Inter"/>
              <a:ea typeface="Inter"/>
              <a:cs typeface="Inter"/>
              <a:sym typeface="Inter"/>
            </a:endParaRPr>
          </a:p>
          <a:p>
            <a:pPr indent="-323850" lvl="0" marL="457200" marR="0" rtl="0" algn="l">
              <a:lnSpc>
                <a:spcPct val="100000"/>
              </a:lnSpc>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Vad står det för siffra bakom RSSI:</a:t>
            </a:r>
            <a:endParaRPr sz="1500">
              <a:solidFill>
                <a:schemeClr val="dk1"/>
              </a:solidFill>
              <a:latin typeface="Inter"/>
              <a:ea typeface="Inter"/>
              <a:cs typeface="Inter"/>
              <a:sym typeface="Inter"/>
            </a:endParaRPr>
          </a:p>
          <a:p>
            <a:pPr indent="-323850" lvl="1" marL="1371600" marR="0" rtl="0" algn="l">
              <a:lnSpc>
                <a:spcPct val="100000"/>
              </a:lnSpc>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9-33 är bra signalstyrka</a:t>
            </a:r>
            <a:endParaRPr sz="1500">
              <a:solidFill>
                <a:schemeClr val="dk1"/>
              </a:solidFill>
              <a:latin typeface="Inter"/>
              <a:ea typeface="Inter"/>
              <a:cs typeface="Inter"/>
              <a:sym typeface="Inter"/>
            </a:endParaRPr>
          </a:p>
          <a:p>
            <a:pPr indent="-323850" lvl="1" marL="1371600" marR="0" rtl="0" algn="l">
              <a:lnSpc>
                <a:spcPct val="100000"/>
              </a:lnSpc>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Under 9 behöver antennen flyttas ut</a:t>
            </a:r>
            <a:endParaRPr sz="1500">
              <a:solidFill>
                <a:schemeClr val="dk1"/>
              </a:solidFill>
              <a:latin typeface="Inter"/>
              <a:ea typeface="Inter"/>
              <a:cs typeface="Inter"/>
              <a:sym typeface="Inter"/>
            </a:endParaRPr>
          </a:p>
          <a:p>
            <a:pPr indent="-323850" lvl="1" marL="1371600" marR="0" rtl="0" algn="l">
              <a:lnSpc>
                <a:spcPct val="100000"/>
              </a:lnSpc>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Vid 99 behöver man kontrollera att antennkabeln sitter ordentligt.</a:t>
            </a:r>
            <a:endParaRPr sz="1500">
              <a:solidFill>
                <a:schemeClr val="dk1"/>
              </a:solidFill>
              <a:latin typeface="Inter"/>
              <a:ea typeface="Inter"/>
              <a:cs typeface="Inter"/>
              <a:sym typeface="Inter"/>
            </a:endParaRPr>
          </a:p>
          <a:p>
            <a:pPr indent="-323850" lvl="1" marL="1371600" marR="0" rtl="0" algn="l">
              <a:lnSpc>
                <a:spcPct val="100000"/>
              </a:lnSpc>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Kontrollera även att simkorter sitter bra. </a:t>
            </a:r>
            <a:endParaRPr sz="1500">
              <a:solidFill>
                <a:schemeClr val="dk1"/>
              </a:solidFill>
              <a:latin typeface="Inter"/>
              <a:ea typeface="Inter"/>
              <a:cs typeface="Inter"/>
              <a:sym typeface="Inter"/>
            </a:endParaRPr>
          </a:p>
          <a:p>
            <a:pPr indent="0" lvl="0" marL="1371600" marR="0" rtl="0" algn="l">
              <a:lnSpc>
                <a:spcPct val="100000"/>
              </a:lnSpc>
              <a:spcBef>
                <a:spcPts val="0"/>
              </a:spcBef>
              <a:spcAft>
                <a:spcPts val="0"/>
              </a:spcAft>
              <a:buNone/>
            </a:pPr>
            <a:r>
              <a:t/>
            </a:r>
            <a:endParaRPr sz="1500">
              <a:solidFill>
                <a:schemeClr val="dk1"/>
              </a:solidFill>
              <a:latin typeface="Inter"/>
              <a:ea typeface="Inter"/>
              <a:cs typeface="Inter"/>
              <a:sym typeface="Inter"/>
            </a:endParaRPr>
          </a:p>
          <a:p>
            <a:pPr indent="0" lvl="0" marL="1371600" marR="0" rtl="0" algn="l">
              <a:lnSpc>
                <a:spcPct val="100000"/>
              </a:lnSpc>
              <a:spcBef>
                <a:spcPts val="0"/>
              </a:spcBef>
              <a:spcAft>
                <a:spcPts val="0"/>
              </a:spcAft>
              <a:buNone/>
            </a:pPr>
            <a:r>
              <a:t/>
            </a:r>
            <a:endParaRPr sz="1500">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lang="sv" sz="1500">
                <a:solidFill>
                  <a:schemeClr val="dk1"/>
                </a:solidFill>
                <a:latin typeface="Inter"/>
                <a:ea typeface="Inter"/>
                <a:cs typeface="Inter"/>
                <a:sym typeface="Inter"/>
              </a:rPr>
              <a:t>Om detta fortfarande inte löser problemet behöver </a:t>
            </a:r>
            <a:endParaRPr sz="1500">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lang="sv" sz="1500">
                <a:solidFill>
                  <a:schemeClr val="dk1"/>
                </a:solidFill>
                <a:latin typeface="Inter"/>
                <a:ea typeface="Inter"/>
                <a:cs typeface="Inter"/>
                <a:sym typeface="Inter"/>
              </a:rPr>
              <a:t>vi troligtvis byta ut terminalen. </a:t>
            </a:r>
            <a:endParaRPr sz="1500">
              <a:solidFill>
                <a:schemeClr val="dk1"/>
              </a:solidFill>
              <a:latin typeface="Inter"/>
              <a:ea typeface="Inter"/>
              <a:cs typeface="Inter"/>
              <a:sym typeface="Inter"/>
            </a:endParaRPr>
          </a:p>
          <a:p>
            <a:pPr indent="0" lvl="0" marL="457200" marR="0" rtl="0" algn="l">
              <a:lnSpc>
                <a:spcPct val="100000"/>
              </a:lnSpc>
              <a:spcBef>
                <a:spcPts val="0"/>
              </a:spcBef>
              <a:spcAft>
                <a:spcPts val="0"/>
              </a:spcAft>
              <a:buNone/>
            </a:pPr>
            <a:r>
              <a:t/>
            </a:r>
            <a:endParaRPr sz="1500">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