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Lst>
  <p:sldSz cy="10692000" cx="7560000"/>
  <p:notesSz cx="6858000" cy="9144000"/>
  <p:embeddedFontLst>
    <p:embeddedFont>
      <p:font typeface="Inter"/>
      <p:regular r:id="rId9"/>
      <p:bold r:id="rId10"/>
      <p:italic r:id="rId11"/>
      <p:boldItalic r:id="rId12"/>
    </p:embeddedFont>
    <p:embeddedFont>
      <p:font typeface="Helvetica Neue"/>
      <p:regular r:id="rId13"/>
      <p:bold r:id="rId14"/>
      <p:italic r:id="rId15"/>
      <p:boldItalic r:id="rId1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1226">
          <p15:clr>
            <a:srgbClr val="747775"/>
          </p15:clr>
        </p15:guide>
        <p15:guide id="3" pos="3515">
          <p15:clr>
            <a:srgbClr val="747775"/>
          </p15:clr>
        </p15:guide>
        <p15:guide id="4" orient="horz" pos="652">
          <p15:clr>
            <a:srgbClr val="747775"/>
          </p15:clr>
        </p15:guide>
        <p15:guide id="5" orient="horz" pos="2010">
          <p15:clr>
            <a:srgbClr val="747775"/>
          </p15:clr>
        </p15:guide>
        <p15:guide id="6" orient="horz" pos="4725">
          <p15:clr>
            <a:srgbClr val="747775"/>
          </p15:clr>
        </p15:guide>
        <p15:guide id="7" orient="horz" pos="6083">
          <p15:clr>
            <a:srgbClr val="747775"/>
          </p15:clr>
        </p15:guide>
      </p15:sldGuideLst>
    </p:ext>
    <p:ext uri="GoogleSlidesCustomDataVersion2">
      <go:slidesCustomData xmlns:go="http://customooxmlschemas.google.com/" r:id="rId17" roundtripDataSignature="AMtx7mgKhzvmRqzleskFvtH4pCen3GS7s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1226"/>
        <p:guide pos="3515"/>
        <p:guide pos="652" orient="horz"/>
        <p:guide pos="2010" orient="horz"/>
        <p:guide pos="4725" orient="horz"/>
        <p:guide pos="6083"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Inter-italic.fntdata"/><Relationship Id="rId10" Type="http://schemas.openxmlformats.org/officeDocument/2006/relationships/font" Target="fonts/Inter-bold.fntdata"/><Relationship Id="rId13" Type="http://schemas.openxmlformats.org/officeDocument/2006/relationships/font" Target="fonts/HelveticaNeue-regular.fntdata"/><Relationship Id="rId12"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regular.fntdata"/><Relationship Id="rId15" Type="http://schemas.openxmlformats.org/officeDocument/2006/relationships/font" Target="fonts/HelveticaNeue-italic.fntdata"/><Relationship Id="rId14" Type="http://schemas.openxmlformats.org/officeDocument/2006/relationships/font" Target="fonts/HelveticaNeue-bold.fntdata"/><Relationship Id="rId17" Type="http://customschemas.google.com/relationships/presentationmetadata" Target="metadata"/><Relationship Id="rId16" Type="http://schemas.openxmlformats.org/officeDocument/2006/relationships/font" Target="fonts/HelveticaNeue-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p2: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2" name="Google Shape;72;p2: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3: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0" name="Google Shape;90;p3: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5"/>
          <p:cNvSpPr txBox="1"/>
          <p:nvPr>
            <p:ph type="ctrTitle"/>
          </p:nvPr>
        </p:nvSpPr>
        <p:spPr>
          <a:xfrm>
            <a:off x="257723" y="1547807"/>
            <a:ext cx="7044900" cy="426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5"/>
          <p:cNvSpPr txBox="1"/>
          <p:nvPr>
            <p:ph idx="1" type="subTitle"/>
          </p:nvPr>
        </p:nvSpPr>
        <p:spPr>
          <a:xfrm>
            <a:off x="257716" y="5891519"/>
            <a:ext cx="7044900" cy="1647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5"/>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6"/>
          <p:cNvSpPr txBox="1"/>
          <p:nvPr>
            <p:ph type="title"/>
          </p:nvPr>
        </p:nvSpPr>
        <p:spPr>
          <a:xfrm>
            <a:off x="257716" y="4471142"/>
            <a:ext cx="7044900" cy="1749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6"/>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7"/>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7"/>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7"/>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8"/>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8"/>
          <p:cNvSpPr txBox="1"/>
          <p:nvPr>
            <p:ph idx="1" type="body"/>
          </p:nvPr>
        </p:nvSpPr>
        <p:spPr>
          <a:xfrm>
            <a:off x="257716"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8"/>
          <p:cNvSpPr txBox="1"/>
          <p:nvPr>
            <p:ph idx="2" type="body"/>
          </p:nvPr>
        </p:nvSpPr>
        <p:spPr>
          <a:xfrm>
            <a:off x="3995463"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8"/>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9"/>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9"/>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0"/>
          <p:cNvSpPr txBox="1"/>
          <p:nvPr>
            <p:ph type="title"/>
          </p:nvPr>
        </p:nvSpPr>
        <p:spPr>
          <a:xfrm>
            <a:off x="257716" y="1154970"/>
            <a:ext cx="2321700" cy="1570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0"/>
          <p:cNvSpPr txBox="1"/>
          <p:nvPr>
            <p:ph idx="1" type="body"/>
          </p:nvPr>
        </p:nvSpPr>
        <p:spPr>
          <a:xfrm>
            <a:off x="257716" y="2888671"/>
            <a:ext cx="2321700" cy="6609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0"/>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1"/>
          <p:cNvSpPr txBox="1"/>
          <p:nvPr>
            <p:ph type="title"/>
          </p:nvPr>
        </p:nvSpPr>
        <p:spPr>
          <a:xfrm>
            <a:off x="405342" y="935763"/>
            <a:ext cx="5265000" cy="8504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1"/>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2"/>
          <p:cNvSpPr/>
          <p:nvPr/>
        </p:nvSpPr>
        <p:spPr>
          <a:xfrm>
            <a:off x="3780163" y="-260"/>
            <a:ext cx="3780300" cy="10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2"/>
          <p:cNvSpPr txBox="1"/>
          <p:nvPr>
            <p:ph type="title"/>
          </p:nvPr>
        </p:nvSpPr>
        <p:spPr>
          <a:xfrm>
            <a:off x="219517" y="2563498"/>
            <a:ext cx="3344400" cy="3081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2"/>
          <p:cNvSpPr txBox="1"/>
          <p:nvPr>
            <p:ph idx="1" type="subTitle"/>
          </p:nvPr>
        </p:nvSpPr>
        <p:spPr>
          <a:xfrm>
            <a:off x="219517" y="5826974"/>
            <a:ext cx="3344400" cy="2567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2"/>
          <p:cNvSpPr txBox="1"/>
          <p:nvPr>
            <p:ph idx="2" type="body"/>
          </p:nvPr>
        </p:nvSpPr>
        <p:spPr>
          <a:xfrm>
            <a:off x="4084015" y="1505192"/>
            <a:ext cx="3172200" cy="76812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3"/>
          <p:cNvSpPr txBox="1"/>
          <p:nvPr>
            <p:ph idx="1" type="body"/>
          </p:nvPr>
        </p:nvSpPr>
        <p:spPr>
          <a:xfrm>
            <a:off x="257716" y="8794431"/>
            <a:ext cx="4959900" cy="12579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4"/>
          <p:cNvSpPr txBox="1"/>
          <p:nvPr>
            <p:ph hasCustomPrompt="1" type="title"/>
          </p:nvPr>
        </p:nvSpPr>
        <p:spPr>
          <a:xfrm>
            <a:off x="257716" y="2299389"/>
            <a:ext cx="7044900" cy="4081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4"/>
          <p:cNvSpPr txBox="1"/>
          <p:nvPr>
            <p:ph idx="1" type="body"/>
          </p:nvPr>
        </p:nvSpPr>
        <p:spPr>
          <a:xfrm>
            <a:off x="257716" y="6552780"/>
            <a:ext cx="7044900" cy="2703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5"/>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4"/>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4"/>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2.png"/><Relationship Id="rId7" Type="http://schemas.openxmlformats.org/officeDocument/2006/relationships/image" Target="../media/image9.jpg"/><Relationship Id="rId8"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2.png"/><Relationship Id="rId7" Type="http://schemas.openxmlformats.org/officeDocument/2006/relationships/image" Target="../media/image10.png"/><Relationship Id="rId8"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2.png"/><Relationship Id="rId7" Type="http://schemas.openxmlformats.org/officeDocument/2006/relationships/image" Target="../media/image8.png"/><Relationship Id="rId8"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6885818" y="2499428"/>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5" name="Google Shape;55;p1"/>
          <p:cNvSpPr txBox="1"/>
          <p:nvPr/>
        </p:nvSpPr>
        <p:spPr>
          <a:xfrm>
            <a:off x="7053818" y="2663921"/>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6" name="Google Shape;56;p1"/>
          <p:cNvSpPr/>
          <p:nvPr/>
        </p:nvSpPr>
        <p:spPr>
          <a:xfrm flipH="1">
            <a:off x="3780000" y="3426923"/>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57" name="Google Shape;57;p1"/>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sp>
        <p:nvSpPr>
          <p:cNvPr id="58" name="Google Shape;58;p1"/>
          <p:cNvSpPr txBox="1"/>
          <p:nvPr/>
        </p:nvSpPr>
        <p:spPr>
          <a:xfrm>
            <a:off x="397512" y="1044313"/>
            <a:ext cx="6765000" cy="15786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chemeClr val="dk1"/>
              </a:buClr>
              <a:buSzPts val="1200"/>
              <a:buFont typeface="Arial"/>
              <a:buNone/>
            </a:pPr>
            <a:r>
              <a:rPr b="1" i="0" lang="sv" sz="3300" u="none" cap="none" strike="noStrike">
                <a:solidFill>
                  <a:schemeClr val="dk1"/>
                </a:solidFill>
                <a:latin typeface="Inter"/>
                <a:ea typeface="Inter"/>
                <a:cs typeface="Inter"/>
                <a:sym typeface="Inter"/>
              </a:rPr>
              <a:t>Byta antenn</a:t>
            </a:r>
            <a:endParaRPr b="1"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200"/>
              <a:buFont typeface="Arial"/>
              <a:buNone/>
            </a:pPr>
            <a:r>
              <a:rPr b="1" i="0" lang="sv" sz="1500" u="none" cap="none" strike="noStrike">
                <a:solidFill>
                  <a:schemeClr val="dk1"/>
                </a:solidFill>
                <a:latin typeface="Inter"/>
                <a:ea typeface="Inter"/>
                <a:cs typeface="Inter"/>
                <a:sym typeface="Inter"/>
              </a:rPr>
              <a:t>Hur man byter antenn på Nayax Terminal. Om signals</a:t>
            </a:r>
            <a:r>
              <a:rPr b="1" lang="sv" sz="1500">
                <a:solidFill>
                  <a:schemeClr val="dk1"/>
                </a:solidFill>
                <a:latin typeface="Inter"/>
                <a:ea typeface="Inter"/>
                <a:cs typeface="Inter"/>
                <a:sym typeface="Inter"/>
              </a:rPr>
              <a:t>tyrkan inte är stark nog på din </a:t>
            </a:r>
            <a:r>
              <a:rPr b="1" lang="sv" sz="1500">
                <a:solidFill>
                  <a:schemeClr val="dk1"/>
                </a:solidFill>
                <a:latin typeface="Inter"/>
                <a:ea typeface="Inter"/>
                <a:cs typeface="Inter"/>
                <a:sym typeface="Inter"/>
              </a:rPr>
              <a:t>nayaxterminal</a:t>
            </a:r>
            <a:r>
              <a:rPr b="1" lang="sv" sz="1500">
                <a:solidFill>
                  <a:schemeClr val="dk1"/>
                </a:solidFill>
                <a:latin typeface="Inter"/>
                <a:ea typeface="Inter"/>
                <a:cs typeface="Inter"/>
                <a:sym typeface="Inter"/>
              </a:rPr>
              <a:t> kan detta ofta bero på fel på antennen. </a:t>
            </a:r>
            <a:endParaRPr b="1"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Inter"/>
              <a:ea typeface="Inter"/>
              <a:cs typeface="Inter"/>
              <a:sym typeface="Inter"/>
            </a:endParaRPr>
          </a:p>
        </p:txBody>
      </p:sp>
      <p:sp>
        <p:nvSpPr>
          <p:cNvPr id="59" name="Google Shape;59;p1"/>
          <p:cNvSpPr txBox="1"/>
          <p:nvPr/>
        </p:nvSpPr>
        <p:spPr>
          <a:xfrm>
            <a:off x="446176" y="2090425"/>
            <a:ext cx="4292100" cy="88344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r>
              <a:rPr b="1" i="0" lang="sv" sz="1500" u="sng" cap="none" strike="noStrike">
                <a:solidFill>
                  <a:schemeClr val="dk1"/>
                </a:solidFill>
                <a:latin typeface="Inter"/>
                <a:ea typeface="Inter"/>
                <a:cs typeface="Inter"/>
                <a:sym typeface="Inter"/>
              </a:rPr>
              <a:t>Steg</a:t>
            </a:r>
            <a:br>
              <a:rPr b="1" i="0" lang="sv" sz="1500" u="sng" cap="none" strike="noStrike">
                <a:solidFill>
                  <a:schemeClr val="dk1"/>
                </a:solidFill>
                <a:latin typeface="Inter"/>
                <a:ea typeface="Inter"/>
                <a:cs typeface="Inter"/>
                <a:sym typeface="Inter"/>
              </a:rPr>
            </a:br>
            <a:endParaRPr b="1" i="0" sz="1500" u="sng" cap="none" strike="noStrike">
              <a:solidFill>
                <a:schemeClr val="dk1"/>
              </a:solidFill>
              <a:latin typeface="Inter"/>
              <a:ea typeface="Inter"/>
              <a:cs typeface="Inter"/>
              <a:sym typeface="Inter"/>
            </a:endParaRPr>
          </a:p>
          <a:p>
            <a:pPr indent="-317500" lvl="0" marL="457200" marR="0" rtl="0" algn="l">
              <a:lnSpc>
                <a:spcPct val="107916"/>
              </a:lnSpc>
              <a:spcBef>
                <a:spcPts val="0"/>
              </a:spcBef>
              <a:spcAft>
                <a:spcPts val="0"/>
              </a:spcAft>
              <a:buClr>
                <a:schemeClr val="dk1"/>
              </a:buClr>
              <a:buSzPts val="1400"/>
              <a:buFont typeface="Calibri"/>
              <a:buAutoNum type="arabicPeriod"/>
            </a:pPr>
            <a:r>
              <a:rPr b="0" i="0" lang="sv" sz="1400" u="none" cap="none" strike="noStrike">
                <a:solidFill>
                  <a:schemeClr val="dk1"/>
                </a:solidFill>
                <a:latin typeface="Calibri"/>
                <a:ea typeface="Calibri"/>
                <a:cs typeface="Calibri"/>
                <a:sym typeface="Calibri"/>
              </a:rPr>
              <a:t>Börja med att slå av strömmen. Använd sedan en torx 20 för att lossa på täckplåten.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highlight>
                <a:srgbClr val="FF0000"/>
              </a:highlight>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317500" lvl="0" marL="457200" marR="0" rtl="0" algn="l">
              <a:lnSpc>
                <a:spcPct val="107916"/>
              </a:lnSpc>
              <a:spcBef>
                <a:spcPts val="800"/>
              </a:spcBef>
              <a:spcAft>
                <a:spcPts val="0"/>
              </a:spcAft>
              <a:buClr>
                <a:schemeClr val="dk1"/>
              </a:buClr>
              <a:buSzPts val="1400"/>
              <a:buFont typeface="Calibri"/>
              <a:buAutoNum type="arabicPeriod"/>
            </a:pPr>
            <a:r>
              <a:rPr b="0" i="0" lang="sv" sz="1400" u="none" cap="none" strike="noStrike">
                <a:solidFill>
                  <a:schemeClr val="dk1"/>
                </a:solidFill>
                <a:latin typeface="Calibri"/>
                <a:ea typeface="Calibri"/>
                <a:cs typeface="Calibri"/>
                <a:sym typeface="Calibri"/>
              </a:rPr>
              <a:t>Själva terminalen sitter fast med 4 stjärnskruvar som behöver skruvas ur </a:t>
            </a:r>
            <a:endParaRPr b="0" i="0" sz="1400" u="none" cap="none" strike="noStrike">
              <a:solidFill>
                <a:schemeClr val="dk1"/>
              </a:solidFill>
              <a:latin typeface="Calibri"/>
              <a:ea typeface="Calibri"/>
              <a:cs typeface="Calibri"/>
              <a:sym typeface="Calibri"/>
            </a:endParaRPr>
          </a:p>
          <a:p>
            <a:pPr indent="0" lvl="0" marL="45720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317500" lvl="0" marL="457200" marR="0" rtl="0" algn="l">
              <a:lnSpc>
                <a:spcPct val="107916"/>
              </a:lnSpc>
              <a:spcBef>
                <a:spcPts val="800"/>
              </a:spcBef>
              <a:spcAft>
                <a:spcPts val="0"/>
              </a:spcAft>
              <a:buClr>
                <a:schemeClr val="dk1"/>
              </a:buClr>
              <a:buSzPts val="1400"/>
              <a:buFont typeface="Calibri"/>
              <a:buAutoNum type="arabicPeriod"/>
            </a:pPr>
            <a:r>
              <a:rPr b="0" i="0" lang="sv" sz="1400" u="none" cap="none" strike="noStrike">
                <a:solidFill>
                  <a:schemeClr val="dk1"/>
                </a:solidFill>
                <a:latin typeface="Calibri"/>
                <a:ea typeface="Calibri"/>
                <a:cs typeface="Calibri"/>
                <a:sym typeface="Calibri"/>
              </a:rPr>
              <a:t>Det sitter en plastlucka på baksidan  som håller tillbaka kablarna. </a:t>
            </a:r>
            <a:endParaRPr b="0" i="0" sz="1400" u="none" cap="none" strike="noStrike">
              <a:solidFill>
                <a:schemeClr val="dk1"/>
              </a:solidFill>
              <a:latin typeface="Calibri"/>
              <a:ea typeface="Calibri"/>
              <a:cs typeface="Calibri"/>
              <a:sym typeface="Calibri"/>
            </a:endParaRPr>
          </a:p>
          <a:p>
            <a:pPr indent="0" lvl="0" marL="45720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311150" lvl="0" marL="457200" marR="0" rtl="0" algn="l">
              <a:lnSpc>
                <a:spcPct val="107916"/>
              </a:lnSpc>
              <a:spcBef>
                <a:spcPts val="800"/>
              </a:spcBef>
              <a:spcAft>
                <a:spcPts val="0"/>
              </a:spcAft>
              <a:buClr>
                <a:schemeClr val="dk1"/>
              </a:buClr>
              <a:buSzPts val="1300"/>
              <a:buFont typeface="Arial"/>
              <a:buAutoNum type="arabicPeriod"/>
            </a:pPr>
            <a:r>
              <a:rPr b="0" i="0" lang="sv" sz="1400" u="none" cap="none" strike="noStrike">
                <a:solidFill>
                  <a:schemeClr val="dk1"/>
                </a:solidFill>
                <a:latin typeface="Calibri"/>
                <a:ea typeface="Calibri"/>
                <a:cs typeface="Calibri"/>
                <a:sym typeface="Calibri"/>
              </a:rPr>
              <a:t>Kontrollera att simkortet sitter fast ordentligt (inringad i mitten). </a:t>
            </a:r>
            <a:endParaRPr b="0" i="0" sz="1400" u="none" cap="none" strike="noStrike">
              <a:solidFill>
                <a:schemeClr val="dk1"/>
              </a:solidFill>
              <a:latin typeface="Calibri"/>
              <a:ea typeface="Calibri"/>
              <a:cs typeface="Calibri"/>
              <a:sym typeface="Calibri"/>
            </a:endParaRPr>
          </a:p>
          <a:p>
            <a:pPr indent="0" lvl="0" marL="45720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311150" lvl="0" marL="457200" marR="0" rtl="0" algn="l">
              <a:lnSpc>
                <a:spcPct val="107916"/>
              </a:lnSpc>
              <a:spcBef>
                <a:spcPts val="800"/>
              </a:spcBef>
              <a:spcAft>
                <a:spcPts val="0"/>
              </a:spcAft>
              <a:buClr>
                <a:schemeClr val="dk1"/>
              </a:buClr>
              <a:buSzPts val="1300"/>
              <a:buFont typeface="Calibri"/>
              <a:buAutoNum type="arabicPeriod"/>
            </a:pPr>
            <a:r>
              <a:rPr b="0" i="0" lang="sv" sz="1400" u="none" cap="none" strike="noStrike">
                <a:solidFill>
                  <a:schemeClr val="dk1"/>
                </a:solidFill>
                <a:latin typeface="Calibri"/>
                <a:ea typeface="Calibri"/>
                <a:cs typeface="Calibri"/>
                <a:sym typeface="Calibri"/>
              </a:rPr>
              <a:t>Antennen snurrar man på och drar rakt uppåt bort från terminalen. Och på samma sätt sätter man tillbaka den nya att man sticker in den och snurrar för att den ska fastna (knäpper till lite).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p:txBody>
      </p:sp>
      <p:cxnSp>
        <p:nvCxnSpPr>
          <p:cNvPr id="60" name="Google Shape;60;p1"/>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61" name="Google Shape;61;p1"/>
          <p:cNvSpPr txBox="1"/>
          <p:nvPr/>
        </p:nvSpPr>
        <p:spPr>
          <a:xfrm>
            <a:off x="721725" y="9561623"/>
            <a:ext cx="2286300" cy="9477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CC0000"/>
              </a:solidFill>
              <a:latin typeface="Inter"/>
              <a:ea typeface="Inter"/>
              <a:cs typeface="Inter"/>
              <a:sym typeface="Inter"/>
            </a:endParaRPr>
          </a:p>
        </p:txBody>
      </p:sp>
      <p:pic>
        <p:nvPicPr>
          <p:cNvPr id="62" name="Google Shape;62;p1"/>
          <p:cNvPicPr preferRelativeResize="0"/>
          <p:nvPr/>
        </p:nvPicPr>
        <p:blipFill rotWithShape="1">
          <a:blip r:embed="rId6">
            <a:alphaModFix/>
          </a:blip>
          <a:srcRect b="0" l="0" r="0" t="0"/>
          <a:stretch/>
        </p:blipFill>
        <p:spPr>
          <a:xfrm>
            <a:off x="6395858" y="549343"/>
            <a:ext cx="725413" cy="725413"/>
          </a:xfrm>
          <a:prstGeom prst="rect">
            <a:avLst/>
          </a:prstGeom>
          <a:noFill/>
          <a:ln>
            <a:noFill/>
          </a:ln>
        </p:spPr>
      </p:pic>
      <p:sp>
        <p:nvSpPr>
          <p:cNvPr id="63" name="Google Shape;63;p1"/>
          <p:cNvSpPr txBox="1"/>
          <p:nvPr/>
        </p:nvSpPr>
        <p:spPr>
          <a:xfrm>
            <a:off x="591750" y="54935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Version. 1.0 2025-01-17</a:t>
            </a:r>
            <a:endParaRPr b="0" i="0" sz="1400" u="none" cap="none" strike="noStrike">
              <a:solidFill>
                <a:schemeClr val="dk1"/>
              </a:solidFill>
              <a:latin typeface="Arial"/>
              <a:ea typeface="Arial"/>
              <a:cs typeface="Arial"/>
              <a:sym typeface="Arial"/>
            </a:endParaRPr>
          </a:p>
        </p:txBody>
      </p:sp>
      <p:pic>
        <p:nvPicPr>
          <p:cNvPr id="64" name="Google Shape;64;p1"/>
          <p:cNvPicPr preferRelativeResize="0"/>
          <p:nvPr/>
        </p:nvPicPr>
        <p:blipFill rotWithShape="1">
          <a:blip r:embed="rId7">
            <a:alphaModFix/>
          </a:blip>
          <a:srcRect b="0" l="0" r="0" t="0"/>
          <a:stretch/>
        </p:blipFill>
        <p:spPr>
          <a:xfrm rot="5400000">
            <a:off x="4349588" y="2912275"/>
            <a:ext cx="3103275" cy="2325800"/>
          </a:xfrm>
          <a:prstGeom prst="rect">
            <a:avLst/>
          </a:prstGeom>
          <a:noFill/>
          <a:ln>
            <a:noFill/>
          </a:ln>
        </p:spPr>
      </p:pic>
      <p:cxnSp>
        <p:nvCxnSpPr>
          <p:cNvPr id="65" name="Google Shape;65;p1"/>
          <p:cNvCxnSpPr/>
          <p:nvPr/>
        </p:nvCxnSpPr>
        <p:spPr>
          <a:xfrm>
            <a:off x="3992225" y="2887125"/>
            <a:ext cx="2610600" cy="455700"/>
          </a:xfrm>
          <a:prstGeom prst="straightConnector1">
            <a:avLst/>
          </a:prstGeom>
          <a:noFill/>
          <a:ln cap="flat" cmpd="sng" w="19050">
            <a:solidFill>
              <a:srgbClr val="FF0000"/>
            </a:solidFill>
            <a:prstDash val="solid"/>
            <a:round/>
            <a:headEnd len="sm" w="sm" type="none"/>
            <a:tailEnd len="med" w="med" type="triangle"/>
          </a:ln>
        </p:spPr>
      </p:cxnSp>
      <p:cxnSp>
        <p:nvCxnSpPr>
          <p:cNvPr id="66" name="Google Shape;66;p1"/>
          <p:cNvCxnSpPr/>
          <p:nvPr/>
        </p:nvCxnSpPr>
        <p:spPr>
          <a:xfrm>
            <a:off x="4006050" y="2873300"/>
            <a:ext cx="2389800" cy="1699200"/>
          </a:xfrm>
          <a:prstGeom prst="straightConnector1">
            <a:avLst/>
          </a:prstGeom>
          <a:noFill/>
          <a:ln cap="flat" cmpd="sng" w="19050">
            <a:solidFill>
              <a:srgbClr val="FF0000"/>
            </a:solidFill>
            <a:prstDash val="solid"/>
            <a:round/>
            <a:headEnd len="sm" w="sm" type="none"/>
            <a:tailEnd len="med" w="med" type="triangle"/>
          </a:ln>
        </p:spPr>
      </p:cxnSp>
      <p:pic>
        <p:nvPicPr>
          <p:cNvPr id="67" name="Google Shape;67;p1"/>
          <p:cNvPicPr preferRelativeResize="0"/>
          <p:nvPr/>
        </p:nvPicPr>
        <p:blipFill rotWithShape="1">
          <a:blip r:embed="rId8">
            <a:alphaModFix/>
          </a:blip>
          <a:srcRect b="0" l="0" r="0" t="0"/>
          <a:stretch/>
        </p:blipFill>
        <p:spPr>
          <a:xfrm>
            <a:off x="4738325" y="5758125"/>
            <a:ext cx="2697625" cy="3598746"/>
          </a:xfrm>
          <a:prstGeom prst="rect">
            <a:avLst/>
          </a:prstGeom>
          <a:noFill/>
          <a:ln>
            <a:noFill/>
          </a:ln>
        </p:spPr>
      </p:pic>
      <p:cxnSp>
        <p:nvCxnSpPr>
          <p:cNvPr id="68" name="Google Shape;68;p1"/>
          <p:cNvCxnSpPr/>
          <p:nvPr/>
        </p:nvCxnSpPr>
        <p:spPr>
          <a:xfrm>
            <a:off x="4337575" y="5815675"/>
            <a:ext cx="1160700" cy="1201800"/>
          </a:xfrm>
          <a:prstGeom prst="straightConnector1">
            <a:avLst/>
          </a:prstGeom>
          <a:noFill/>
          <a:ln cap="flat" cmpd="sng" w="19050">
            <a:solidFill>
              <a:srgbClr val="FF0000"/>
            </a:solidFill>
            <a:prstDash val="solid"/>
            <a:round/>
            <a:headEnd len="sm" w="sm" type="none"/>
            <a:tailEnd len="med" w="med" type="triangle"/>
          </a:ln>
        </p:spPr>
      </p:cxnSp>
      <p:cxnSp>
        <p:nvCxnSpPr>
          <p:cNvPr id="69" name="Google Shape;69;p1"/>
          <p:cNvCxnSpPr/>
          <p:nvPr/>
        </p:nvCxnSpPr>
        <p:spPr>
          <a:xfrm flipH="1" rot="10800000">
            <a:off x="4309950" y="7365275"/>
            <a:ext cx="1464900" cy="39000"/>
          </a:xfrm>
          <a:prstGeom prst="straightConnector1">
            <a:avLst/>
          </a:prstGeom>
          <a:noFill/>
          <a:ln cap="flat" cmpd="sng" w="19050">
            <a:solidFill>
              <a:srgbClr val="FF0000"/>
            </a:solidFill>
            <a:prstDash val="solid"/>
            <a:round/>
            <a:headEnd len="sm" w="sm" type="none"/>
            <a:tailEnd len="med" w="med" type="triangle"/>
          </a:ln>
        </p:spPr>
      </p:cxn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3" name="Shape 73"/>
        <p:cNvGrpSpPr/>
        <p:nvPr/>
      </p:nvGrpSpPr>
      <p:grpSpPr>
        <a:xfrm>
          <a:off x="0" y="0"/>
          <a:ext cx="0" cy="0"/>
          <a:chOff x="0" y="0"/>
          <a:chExt cx="0" cy="0"/>
        </a:xfrm>
      </p:grpSpPr>
      <p:sp>
        <p:nvSpPr>
          <p:cNvPr id="74" name="Google Shape;74;p2"/>
          <p:cNvSpPr txBox="1"/>
          <p:nvPr/>
        </p:nvSpPr>
        <p:spPr>
          <a:xfrm>
            <a:off x="6885818" y="2499428"/>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75" name="Google Shape;75;p2"/>
          <p:cNvSpPr txBox="1"/>
          <p:nvPr/>
        </p:nvSpPr>
        <p:spPr>
          <a:xfrm>
            <a:off x="7053818" y="2663921"/>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76" name="Google Shape;76;p2"/>
          <p:cNvSpPr/>
          <p:nvPr/>
        </p:nvSpPr>
        <p:spPr>
          <a:xfrm flipH="1">
            <a:off x="3780000" y="3426923"/>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77" name="Google Shape;77;p2"/>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sp>
        <p:nvSpPr>
          <p:cNvPr id="78" name="Google Shape;78;p2"/>
          <p:cNvSpPr txBox="1"/>
          <p:nvPr/>
        </p:nvSpPr>
        <p:spPr>
          <a:xfrm>
            <a:off x="397512" y="1027425"/>
            <a:ext cx="6765000" cy="1347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chemeClr val="dk1"/>
              </a:buClr>
              <a:buSzPts val="1200"/>
              <a:buFont typeface="Arial"/>
              <a:buNone/>
            </a:pPr>
            <a:r>
              <a:rPr b="1" i="0" lang="sv" sz="3300" u="none" cap="none" strike="noStrike">
                <a:solidFill>
                  <a:schemeClr val="dk1"/>
                </a:solidFill>
                <a:latin typeface="Inter"/>
                <a:ea typeface="Inter"/>
                <a:cs typeface="Inter"/>
                <a:sym typeface="Inter"/>
              </a:rPr>
              <a:t>Byta antenn</a:t>
            </a:r>
            <a:endParaRPr b="1"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200"/>
              <a:buFont typeface="Arial"/>
              <a:buNone/>
            </a:pPr>
            <a:r>
              <a:rPr b="1" i="0" lang="sv" sz="1500" u="none" cap="none" strike="noStrike">
                <a:solidFill>
                  <a:schemeClr val="dk1"/>
                </a:solidFill>
                <a:latin typeface="Inter"/>
                <a:ea typeface="Inter"/>
                <a:cs typeface="Inter"/>
                <a:sym typeface="Inter"/>
              </a:rPr>
              <a:t>Dragning för att undvika att klämma kabeln på PRO maskiner.</a:t>
            </a:r>
            <a:endParaRPr b="1"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3300"/>
              <a:buFont typeface="Arial"/>
              <a:buNone/>
            </a:pPr>
            <a:r>
              <a:t/>
            </a:r>
            <a:endParaRPr b="1" i="0" sz="3300" u="none" cap="none" strike="noStrike">
              <a:solidFill>
                <a:schemeClr val="dk1"/>
              </a:solidFill>
              <a:latin typeface="Inter"/>
              <a:ea typeface="Inter"/>
              <a:cs typeface="Inter"/>
              <a:sym typeface="Inter"/>
            </a:endParaRPr>
          </a:p>
        </p:txBody>
      </p:sp>
      <p:sp>
        <p:nvSpPr>
          <p:cNvPr id="79" name="Google Shape;79;p2"/>
          <p:cNvSpPr txBox="1"/>
          <p:nvPr/>
        </p:nvSpPr>
        <p:spPr>
          <a:xfrm>
            <a:off x="446175" y="2090425"/>
            <a:ext cx="3863700" cy="73110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r>
              <a:rPr b="1" i="0" lang="sv" sz="1500" u="sng" cap="none" strike="noStrike">
                <a:solidFill>
                  <a:schemeClr val="dk1"/>
                </a:solidFill>
                <a:latin typeface="Inter"/>
                <a:ea typeface="Inter"/>
                <a:cs typeface="Inter"/>
                <a:sym typeface="Inter"/>
              </a:rPr>
              <a:t>Steg</a:t>
            </a:r>
            <a:br>
              <a:rPr b="1" i="0" lang="sv" sz="1500" u="sng" cap="none" strike="noStrike">
                <a:solidFill>
                  <a:schemeClr val="dk1"/>
                </a:solidFill>
                <a:latin typeface="Inter"/>
                <a:ea typeface="Inter"/>
                <a:cs typeface="Inter"/>
                <a:sym typeface="Inter"/>
              </a:rPr>
            </a:br>
            <a:endParaRPr b="1" i="0" sz="1500" u="sng" cap="none" strike="noStrike">
              <a:solidFill>
                <a:schemeClr val="dk1"/>
              </a:solidFill>
              <a:latin typeface="Inter"/>
              <a:ea typeface="Inter"/>
              <a:cs typeface="Inter"/>
              <a:sym typeface="Inter"/>
            </a:endParaRPr>
          </a:p>
          <a:p>
            <a:pPr indent="-317500" lvl="0" marL="457200" marR="0" rtl="0" algn="l">
              <a:lnSpc>
                <a:spcPct val="107916"/>
              </a:lnSpc>
              <a:spcBef>
                <a:spcPts val="0"/>
              </a:spcBef>
              <a:spcAft>
                <a:spcPts val="0"/>
              </a:spcAft>
              <a:buClr>
                <a:schemeClr val="dk1"/>
              </a:buClr>
              <a:buSzPts val="1400"/>
              <a:buFont typeface="Calibri"/>
              <a:buAutoNum type="arabicPeriod"/>
            </a:pPr>
            <a:r>
              <a:rPr b="0" i="0" lang="sv" sz="1400" u="none" cap="none" strike="noStrike">
                <a:solidFill>
                  <a:schemeClr val="dk1"/>
                </a:solidFill>
                <a:latin typeface="Calibri"/>
                <a:ea typeface="Calibri"/>
                <a:cs typeface="Calibri"/>
                <a:sym typeface="Calibri"/>
              </a:rPr>
              <a:t>Börja med att öppna dörren.</a:t>
            </a:r>
            <a:endParaRPr b="0" i="0" sz="1400" u="none" cap="none" strike="noStrike">
              <a:solidFill>
                <a:schemeClr val="dk1"/>
              </a:solidFill>
              <a:latin typeface="Calibri"/>
              <a:ea typeface="Calibri"/>
              <a:cs typeface="Calibri"/>
              <a:sym typeface="Calibri"/>
            </a:endParaRPr>
          </a:p>
          <a:p>
            <a:pPr indent="-317500" lvl="0" marL="457200" marR="0" rtl="0" algn="l">
              <a:lnSpc>
                <a:spcPct val="107916"/>
              </a:lnSpc>
              <a:spcBef>
                <a:spcPts val="800"/>
              </a:spcBef>
              <a:spcAft>
                <a:spcPts val="0"/>
              </a:spcAft>
              <a:buClr>
                <a:schemeClr val="dk1"/>
              </a:buClr>
              <a:buSzPts val="1400"/>
              <a:buFont typeface="Calibri"/>
              <a:buAutoNum type="arabicPeriod"/>
            </a:pPr>
            <a:r>
              <a:rPr b="0" i="0" lang="sv" sz="1400" u="none" cap="none" strike="noStrike">
                <a:solidFill>
                  <a:schemeClr val="dk1"/>
                </a:solidFill>
                <a:latin typeface="Calibri"/>
                <a:ea typeface="Calibri"/>
                <a:cs typeface="Calibri"/>
                <a:sym typeface="Calibri"/>
              </a:rPr>
              <a:t>Tryck in delen på höger sida och dra ut hyllan mot dig.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highlight>
                <a:srgbClr val="FF0000"/>
              </a:highlight>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317500" lvl="0" marL="457200" marR="0" rtl="0" algn="l">
              <a:lnSpc>
                <a:spcPct val="107916"/>
              </a:lnSpc>
              <a:spcBef>
                <a:spcPts val="800"/>
              </a:spcBef>
              <a:spcAft>
                <a:spcPts val="0"/>
              </a:spcAft>
              <a:buClr>
                <a:schemeClr val="dk1"/>
              </a:buClr>
              <a:buSzPts val="1400"/>
              <a:buFont typeface="Calibri"/>
              <a:buAutoNum type="arabicPeriod"/>
            </a:pPr>
            <a:r>
              <a:rPr b="0" i="0" lang="sv" sz="1400" u="none" cap="none" strike="noStrike">
                <a:solidFill>
                  <a:schemeClr val="dk1"/>
                </a:solidFill>
                <a:latin typeface="Calibri"/>
                <a:ea typeface="Calibri"/>
                <a:cs typeface="Calibri"/>
                <a:sym typeface="Calibri"/>
              </a:rPr>
              <a:t>På baksidan finns ett hål som du kan dra sladden genom. Trä in den där, sen får man fiska ut den, bra om du har något som kan greppa kabeln med.</a:t>
            </a:r>
            <a:endParaRPr b="0" i="0" sz="1400" u="none" cap="none" strike="noStrike">
              <a:solidFill>
                <a:schemeClr val="dk1"/>
              </a:solidFill>
              <a:latin typeface="Calibri"/>
              <a:ea typeface="Calibri"/>
              <a:cs typeface="Calibri"/>
              <a:sym typeface="Calibri"/>
            </a:endParaRPr>
          </a:p>
          <a:p>
            <a:pPr indent="0" lvl="0" marL="457200" marR="0" rtl="0" algn="l">
              <a:lnSpc>
                <a:spcPct val="107916"/>
              </a:lnSpc>
              <a:spcBef>
                <a:spcPts val="800"/>
              </a:spcBef>
              <a:spcAft>
                <a:spcPts val="0"/>
              </a:spcAft>
              <a:buClr>
                <a:srgbClr val="000000"/>
              </a:buClr>
              <a:buSzPts val="1400"/>
              <a:buFont typeface="Arial"/>
              <a:buNone/>
            </a:pPr>
            <a:r>
              <a:t/>
            </a:r>
            <a:endParaRPr b="0" i="0" sz="1400" u="none" cap="none" strike="noStrike">
              <a:solidFill>
                <a:schemeClr val="dk1"/>
              </a:solidFill>
              <a:latin typeface="Calibri"/>
              <a:ea typeface="Calibri"/>
              <a:cs typeface="Calibri"/>
              <a:sym typeface="Calibri"/>
            </a:endParaRPr>
          </a:p>
          <a:p>
            <a:pPr indent="-317500" lvl="0" marL="457200" marR="0" rtl="0" algn="l">
              <a:lnSpc>
                <a:spcPct val="107916"/>
              </a:lnSpc>
              <a:spcBef>
                <a:spcPts val="800"/>
              </a:spcBef>
              <a:spcAft>
                <a:spcPts val="0"/>
              </a:spcAft>
              <a:buClr>
                <a:schemeClr val="dk1"/>
              </a:buClr>
              <a:buSzPts val="1400"/>
              <a:buFont typeface="Calibri"/>
              <a:buAutoNum type="arabicPeriod"/>
            </a:pPr>
            <a:r>
              <a:rPr b="0" i="0" lang="sv" sz="1400" u="none" cap="none" strike="noStrike">
                <a:solidFill>
                  <a:schemeClr val="dk1"/>
                </a:solidFill>
                <a:latin typeface="Calibri"/>
                <a:ea typeface="Calibri"/>
                <a:cs typeface="Calibri"/>
                <a:sym typeface="Calibri"/>
              </a:rPr>
              <a:t>När du får tag i den, dra den och koppla i Nayax enheten. Fäst kabeln i samma fästen som de andra kablarna är fästa i.</a:t>
            </a:r>
            <a:endParaRPr b="0" i="0" sz="1400" u="none" cap="none" strike="noStrike">
              <a:solidFill>
                <a:schemeClr val="dk1"/>
              </a:solidFill>
              <a:latin typeface="Calibri"/>
              <a:ea typeface="Calibri"/>
              <a:cs typeface="Calibri"/>
              <a:sym typeface="Calibri"/>
            </a:endParaRPr>
          </a:p>
          <a:p>
            <a:pPr indent="0" lvl="0" marL="0" marR="0" rtl="0" algn="l">
              <a:lnSpc>
                <a:spcPct val="107916"/>
              </a:lnSpc>
              <a:spcBef>
                <a:spcPts val="800"/>
              </a:spcBef>
              <a:spcAft>
                <a:spcPts val="0"/>
              </a:spcAft>
              <a:buClr>
                <a:srgbClr val="000000"/>
              </a:buClr>
              <a:buSzPts val="1700"/>
              <a:buFont typeface="Arial"/>
              <a:buNone/>
            </a:pPr>
            <a:r>
              <a:t/>
            </a:r>
            <a:endParaRPr b="0" i="0" sz="1700" u="none" cap="none" strike="noStrike">
              <a:solidFill>
                <a:schemeClr val="dk1"/>
              </a:solidFill>
              <a:latin typeface="Calibri"/>
              <a:ea typeface="Calibri"/>
              <a:cs typeface="Calibri"/>
              <a:sym typeface="Calibri"/>
            </a:endParaRPr>
          </a:p>
          <a:p>
            <a:pPr indent="0" lvl="0" marL="0" marR="0" rtl="0" algn="l">
              <a:lnSpc>
                <a:spcPct val="100000"/>
              </a:lnSpc>
              <a:spcBef>
                <a:spcPts val="80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Inter"/>
              <a:ea typeface="Inter"/>
              <a:cs typeface="Inter"/>
              <a:sym typeface="Inter"/>
            </a:endParaRPr>
          </a:p>
        </p:txBody>
      </p:sp>
      <p:cxnSp>
        <p:nvCxnSpPr>
          <p:cNvPr id="80" name="Google Shape;80;p2"/>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81" name="Google Shape;81;p2"/>
          <p:cNvSpPr txBox="1"/>
          <p:nvPr/>
        </p:nvSpPr>
        <p:spPr>
          <a:xfrm>
            <a:off x="721725" y="9561623"/>
            <a:ext cx="2286300" cy="9477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CC0000"/>
              </a:solidFill>
              <a:latin typeface="Inter"/>
              <a:ea typeface="Inter"/>
              <a:cs typeface="Inter"/>
              <a:sym typeface="Inter"/>
            </a:endParaRPr>
          </a:p>
        </p:txBody>
      </p:sp>
      <p:pic>
        <p:nvPicPr>
          <p:cNvPr id="82" name="Google Shape;82;p2"/>
          <p:cNvPicPr preferRelativeResize="0"/>
          <p:nvPr/>
        </p:nvPicPr>
        <p:blipFill rotWithShape="1">
          <a:blip r:embed="rId6">
            <a:alphaModFix/>
          </a:blip>
          <a:srcRect b="0" l="0" r="0" t="0"/>
          <a:stretch/>
        </p:blipFill>
        <p:spPr>
          <a:xfrm>
            <a:off x="6395858" y="549343"/>
            <a:ext cx="725413" cy="725413"/>
          </a:xfrm>
          <a:prstGeom prst="rect">
            <a:avLst/>
          </a:prstGeom>
          <a:noFill/>
          <a:ln>
            <a:noFill/>
          </a:ln>
        </p:spPr>
      </p:pic>
      <p:sp>
        <p:nvSpPr>
          <p:cNvPr id="83" name="Google Shape;83;p2"/>
          <p:cNvSpPr txBox="1"/>
          <p:nvPr/>
        </p:nvSpPr>
        <p:spPr>
          <a:xfrm>
            <a:off x="591750" y="549350"/>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Version. 1.0 2025-01-17</a:t>
            </a:r>
            <a:endParaRPr b="0" i="0" sz="1400" u="none" cap="none" strike="noStrike">
              <a:solidFill>
                <a:schemeClr val="dk1"/>
              </a:solidFill>
              <a:latin typeface="Arial"/>
              <a:ea typeface="Arial"/>
              <a:cs typeface="Arial"/>
              <a:sym typeface="Arial"/>
            </a:endParaRPr>
          </a:p>
        </p:txBody>
      </p:sp>
      <p:pic>
        <p:nvPicPr>
          <p:cNvPr id="84" name="Google Shape;84;p2"/>
          <p:cNvPicPr preferRelativeResize="0"/>
          <p:nvPr/>
        </p:nvPicPr>
        <p:blipFill rotWithShape="1">
          <a:blip r:embed="rId7">
            <a:alphaModFix/>
          </a:blip>
          <a:srcRect b="0" l="0" r="0" t="0"/>
          <a:stretch/>
        </p:blipFill>
        <p:spPr>
          <a:xfrm>
            <a:off x="4309875" y="1896463"/>
            <a:ext cx="3058500" cy="2821137"/>
          </a:xfrm>
          <a:prstGeom prst="rect">
            <a:avLst/>
          </a:prstGeom>
          <a:noFill/>
          <a:ln>
            <a:noFill/>
          </a:ln>
        </p:spPr>
      </p:pic>
      <p:cxnSp>
        <p:nvCxnSpPr>
          <p:cNvPr id="85" name="Google Shape;85;p2"/>
          <p:cNvCxnSpPr/>
          <p:nvPr/>
        </p:nvCxnSpPr>
        <p:spPr>
          <a:xfrm>
            <a:off x="3854100" y="3315350"/>
            <a:ext cx="2914800" cy="386700"/>
          </a:xfrm>
          <a:prstGeom prst="straightConnector1">
            <a:avLst/>
          </a:prstGeom>
          <a:noFill/>
          <a:ln cap="flat" cmpd="sng" w="28575">
            <a:solidFill>
              <a:srgbClr val="FF0000"/>
            </a:solidFill>
            <a:prstDash val="solid"/>
            <a:round/>
            <a:headEnd len="sm" w="sm" type="none"/>
            <a:tailEnd len="med" w="med" type="triangle"/>
          </a:ln>
        </p:spPr>
      </p:cxnSp>
      <p:pic>
        <p:nvPicPr>
          <p:cNvPr id="86" name="Google Shape;86;p2"/>
          <p:cNvPicPr preferRelativeResize="0"/>
          <p:nvPr/>
        </p:nvPicPr>
        <p:blipFill rotWithShape="1">
          <a:blip r:embed="rId8">
            <a:alphaModFix/>
          </a:blip>
          <a:srcRect b="0" l="0" r="0" t="0"/>
          <a:stretch/>
        </p:blipFill>
        <p:spPr>
          <a:xfrm>
            <a:off x="4487075" y="5069725"/>
            <a:ext cx="2914800" cy="3991075"/>
          </a:xfrm>
          <a:prstGeom prst="rect">
            <a:avLst/>
          </a:prstGeom>
          <a:noFill/>
          <a:ln>
            <a:noFill/>
          </a:ln>
        </p:spPr>
      </p:pic>
      <p:cxnSp>
        <p:nvCxnSpPr>
          <p:cNvPr id="87" name="Google Shape;87;p2"/>
          <p:cNvCxnSpPr/>
          <p:nvPr/>
        </p:nvCxnSpPr>
        <p:spPr>
          <a:xfrm>
            <a:off x="3094325" y="6022875"/>
            <a:ext cx="2321400" cy="428700"/>
          </a:xfrm>
          <a:prstGeom prst="straightConnector1">
            <a:avLst/>
          </a:prstGeom>
          <a:noFill/>
          <a:ln cap="flat" cmpd="sng" w="28575">
            <a:solidFill>
              <a:srgbClr val="FF0000"/>
            </a:solidFill>
            <a:prstDash val="solid"/>
            <a:round/>
            <a:headEnd len="sm" w="sm" type="none"/>
            <a:tailEnd len="med" w="med" type="triangle"/>
          </a:ln>
        </p:spPr>
      </p:cxn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1" name="Shape 91"/>
        <p:cNvGrpSpPr/>
        <p:nvPr/>
      </p:nvGrpSpPr>
      <p:grpSpPr>
        <a:xfrm>
          <a:off x="0" y="0"/>
          <a:ext cx="0" cy="0"/>
          <a:chOff x="0" y="0"/>
          <a:chExt cx="0" cy="0"/>
        </a:xfrm>
      </p:grpSpPr>
      <p:sp>
        <p:nvSpPr>
          <p:cNvPr id="92" name="Google Shape;92;p3"/>
          <p:cNvSpPr txBox="1"/>
          <p:nvPr/>
        </p:nvSpPr>
        <p:spPr>
          <a:xfrm>
            <a:off x="6885818" y="2499428"/>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93" name="Google Shape;93;p3"/>
          <p:cNvSpPr txBox="1"/>
          <p:nvPr/>
        </p:nvSpPr>
        <p:spPr>
          <a:xfrm>
            <a:off x="7053818" y="2663921"/>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94" name="Google Shape;94;p3"/>
          <p:cNvSpPr/>
          <p:nvPr/>
        </p:nvSpPr>
        <p:spPr>
          <a:xfrm flipH="1">
            <a:off x="3780000" y="3426898"/>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95" name="Google Shape;95;p3"/>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cxnSp>
        <p:nvCxnSpPr>
          <p:cNvPr id="96" name="Google Shape;96;p3"/>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97" name="Google Shape;97;p3"/>
          <p:cNvSpPr txBox="1"/>
          <p:nvPr/>
        </p:nvSpPr>
        <p:spPr>
          <a:xfrm>
            <a:off x="721725" y="9561623"/>
            <a:ext cx="2286300" cy="9477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CC0000"/>
              </a:solidFill>
              <a:latin typeface="Inter"/>
              <a:ea typeface="Inter"/>
              <a:cs typeface="Inter"/>
              <a:sym typeface="Inter"/>
            </a:endParaRPr>
          </a:p>
        </p:txBody>
      </p:sp>
      <p:pic>
        <p:nvPicPr>
          <p:cNvPr id="98" name="Google Shape;98;p3"/>
          <p:cNvPicPr preferRelativeResize="0"/>
          <p:nvPr/>
        </p:nvPicPr>
        <p:blipFill rotWithShape="1">
          <a:blip r:embed="rId6">
            <a:alphaModFix/>
          </a:blip>
          <a:srcRect b="0" l="0" r="0" t="0"/>
          <a:stretch/>
        </p:blipFill>
        <p:spPr>
          <a:xfrm>
            <a:off x="6431233" y="598493"/>
            <a:ext cx="725413" cy="725413"/>
          </a:xfrm>
          <a:prstGeom prst="rect">
            <a:avLst/>
          </a:prstGeom>
          <a:noFill/>
          <a:ln>
            <a:noFill/>
          </a:ln>
        </p:spPr>
      </p:pic>
      <p:sp>
        <p:nvSpPr>
          <p:cNvPr id="99" name="Google Shape;99;p3"/>
          <p:cNvSpPr txBox="1"/>
          <p:nvPr/>
        </p:nvSpPr>
        <p:spPr>
          <a:xfrm>
            <a:off x="6246421" y="2315688"/>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0" name="Google Shape;100;p3"/>
          <p:cNvSpPr txBox="1"/>
          <p:nvPr/>
        </p:nvSpPr>
        <p:spPr>
          <a:xfrm>
            <a:off x="6398821" y="2468088"/>
            <a:ext cx="184800" cy="369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Calibri"/>
              <a:ea typeface="Calibri"/>
              <a:cs typeface="Calibri"/>
              <a:sym typeface="Calibri"/>
            </a:endParaRPr>
          </a:p>
        </p:txBody>
      </p:sp>
      <p:sp>
        <p:nvSpPr>
          <p:cNvPr id="101" name="Google Shape;101;p3"/>
          <p:cNvSpPr txBox="1"/>
          <p:nvPr/>
        </p:nvSpPr>
        <p:spPr>
          <a:xfrm>
            <a:off x="1108811" y="3286293"/>
            <a:ext cx="4156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Inter"/>
              <a:ea typeface="Inter"/>
              <a:cs typeface="Inter"/>
              <a:sym typeface="Inter"/>
            </a:endParaRPr>
          </a:p>
        </p:txBody>
      </p:sp>
      <p:sp>
        <p:nvSpPr>
          <p:cNvPr id="102" name="Google Shape;102;p3"/>
          <p:cNvSpPr txBox="1"/>
          <p:nvPr/>
        </p:nvSpPr>
        <p:spPr>
          <a:xfrm>
            <a:off x="1606163" y="3286288"/>
            <a:ext cx="4522200" cy="1177500"/>
          </a:xfrm>
          <a:prstGeom prst="rect">
            <a:avLst/>
          </a:prstGeom>
          <a:noFill/>
          <a:ln>
            <a:noFill/>
          </a:ln>
        </p:spPr>
        <p:txBody>
          <a:bodyPr anchorCtr="0" anchor="ctr" bIns="19050" lIns="19050" spcFirstLastPara="1" rIns="19050" wrap="square" tIns="19050">
            <a:spAutoFit/>
          </a:bodyPr>
          <a:lstStyle/>
          <a:p>
            <a:pPr indent="0" lvl="0" marL="0" marR="0" rtl="0" algn="l">
              <a:lnSpc>
                <a:spcPct val="100000"/>
              </a:lnSpc>
              <a:spcBef>
                <a:spcPts val="0"/>
              </a:spcBef>
              <a:spcAft>
                <a:spcPts val="0"/>
              </a:spcAft>
              <a:buClr>
                <a:srgbClr val="000000"/>
              </a:buClr>
              <a:buSzPts val="2400"/>
              <a:buFont typeface="Arial"/>
              <a:buNone/>
            </a:pPr>
            <a:r>
              <a:rPr b="1" i="0" lang="sv" sz="2400" u="none" cap="none" strike="noStrike">
                <a:solidFill>
                  <a:srgbClr val="000000"/>
                </a:solidFill>
                <a:latin typeface="Helvetica Neue"/>
                <a:ea typeface="Helvetica Neue"/>
                <a:cs typeface="Helvetica Neue"/>
                <a:sym typeface="Helvetica Neue"/>
              </a:rPr>
              <a:t>Impact Solutions supportväxel</a:t>
            </a:r>
            <a:endParaRPr b="1" i="0" sz="2400" u="none" cap="none" strike="noStrike">
              <a:solidFill>
                <a:srgbClr val="000000"/>
              </a:solidFill>
              <a:latin typeface="Helvetica Neue"/>
              <a:ea typeface="Helvetica Neue"/>
              <a:cs typeface="Helvetica Neue"/>
              <a:sym typeface="Helvetica Neue"/>
            </a:endParaRPr>
          </a:p>
          <a:p>
            <a:pPr indent="0" lvl="0" marL="0" marR="0" rtl="0" algn="l">
              <a:lnSpc>
                <a:spcPct val="100000"/>
              </a:lnSpc>
              <a:spcBef>
                <a:spcPts val="0"/>
              </a:spcBef>
              <a:spcAft>
                <a:spcPts val="0"/>
              </a:spcAft>
              <a:buClr>
                <a:srgbClr val="000000"/>
              </a:buClr>
              <a:buSzPts val="5000"/>
              <a:buFont typeface="Arial"/>
              <a:buNone/>
            </a:pPr>
            <a:r>
              <a:rPr b="1" i="0" lang="sv" sz="5000" u="none" cap="none" strike="noStrike">
                <a:solidFill>
                  <a:srgbClr val="000000"/>
                </a:solidFill>
                <a:latin typeface="Helvetica Neue"/>
                <a:ea typeface="Helvetica Neue"/>
                <a:cs typeface="Helvetica Neue"/>
                <a:sym typeface="Helvetica Neue"/>
              </a:rPr>
              <a:t>010-20 71 510</a:t>
            </a:r>
            <a:endParaRPr b="1" i="0" sz="5000" u="none" cap="none" strike="noStrike">
              <a:solidFill>
                <a:srgbClr val="000000"/>
              </a:solidFill>
              <a:latin typeface="Helvetica Neue"/>
              <a:ea typeface="Helvetica Neue"/>
              <a:cs typeface="Helvetica Neue"/>
              <a:sym typeface="Helvetica Neue"/>
            </a:endParaRPr>
          </a:p>
        </p:txBody>
      </p:sp>
      <p:pic>
        <p:nvPicPr>
          <p:cNvPr id="103" name="Google Shape;103;p3"/>
          <p:cNvPicPr preferRelativeResize="0"/>
          <p:nvPr/>
        </p:nvPicPr>
        <p:blipFill rotWithShape="1">
          <a:blip r:embed="rId7">
            <a:alphaModFix/>
          </a:blip>
          <a:srcRect b="0" l="0" r="0" t="0"/>
          <a:stretch/>
        </p:blipFill>
        <p:spPr>
          <a:xfrm>
            <a:off x="1966824" y="4690175"/>
            <a:ext cx="3626363" cy="3626363"/>
          </a:xfrm>
          <a:prstGeom prst="rect">
            <a:avLst/>
          </a:prstGeom>
          <a:noFill/>
          <a:ln>
            <a:noFill/>
          </a:ln>
        </p:spPr>
      </p:pic>
      <p:pic>
        <p:nvPicPr>
          <p:cNvPr id="104" name="Google Shape;104;p3"/>
          <p:cNvPicPr preferRelativeResize="0"/>
          <p:nvPr/>
        </p:nvPicPr>
        <p:blipFill rotWithShape="1">
          <a:blip r:embed="rId8">
            <a:alphaModFix/>
          </a:blip>
          <a:srcRect b="0" l="0" r="0" t="0"/>
          <a:stretch/>
        </p:blipFill>
        <p:spPr>
          <a:xfrm>
            <a:off x="3422175" y="1773762"/>
            <a:ext cx="890175" cy="8901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